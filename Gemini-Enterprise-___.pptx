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本日はお時間いただきありがとうございます。Gemini Enterpriseのご紹介と、弊社の構築・導入支援サービスのご提案という内容で、全27枚、所要時間およそ30分を予定しております。本日のゴールは、御社の情報システム部門の皆様に、Gemini Enterpriseがどのような製品で、弊社がどのように導入をご支援できるかを明確にお伝えし、次のステップとしてスモールスタートのイメージを持っていただくことです。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本日のアジェンダです。大きく4つのパートに分かれております。まず第1部で、なぜ今企業にAIエージェント基盤が必要なのか、市場の状況と情報システム部門の課題を整理します。第2部でGemini Enterprise製品そのもののご紹介、第3部で弊社の構築・導入支援サービス、最後に導入効果と次のステップ、という流れです。一通りのご説明の後、質疑応答のお時間を設けます。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現状認識から共有させてください。左の数字をご覧ください。日本のSMBにおけるAI採用率は16%。グローバルの35%の半分以下です。一方で、世界の経営幹部の52%はすでにAIエージェントを展開済み。この差は急速に縮まりつつあります。右は情シスの皆様が直面する3大課題です。情報のサイロ化、セキュリティとガバナンス、そして導入後の定着化。どれか1つでも心当たりがあれば、今日の話は必ずお役に立てると思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ここから第2部、Gemini Enterpriseという製品そのもののご紹介に入っていきます。3層構造、主要機能3つ、アーキテクチャ、セキュリティ、競合比較の順で、全体像を押さえていただきます。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Enterpriseを一言で申し上げると、社内のすべての情報にアクセスできるAIエージェント基盤です。左の図をご覧ください。これまで社員の皆様は、CRM、メール、Drive、Confluenceと、情報を探すために複数のシステムを行き来していました。平均1〜2時間かかる作業が、Gemini Enterpriseでは自然言語で一度質問するだけで5〜10分で完結します。コア機能は3つ、Enterprise Search、NotebookLM Enterprise、Agent Designerです。これから1枚ずつ詳しくご説明します。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Enterpriseは3層構造になっており、段階的に導入できる設計です。一番下がGoogle Workspaceという基盤、真ん中が無償で使えるWorkspace Studio、そして一番上が今回ご提案するGemini Enterprise本体です。ポイントは、いきなり全社展開する必要がないということです。下の比較表の通り、Business・Standard・Plusの3エディションがあり、全社展開にはStandardを推奨しています。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Searchは、権限を維持したまま16以上のシステムを横断検索できる機能です。右側をご覧ください。Google Drive、Gmail、Salesforce、ServiceNow、Jira、Confluence。これらを自然言語の質問ひとつで一気に検索できます。重要なのは、各ユーザーの元システムでの権限をそのまま継承する点です。閲覧権限のないデータは絶対に表示されません。すべての回答に引用元のリンクが付くので、ハルシネーション、つまりAIのでたらめな回答も防げ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2つ目はNotebookLM Enterpriseです。これはEnterprise Searchとは逆の発想で、登録した社内文書だけを参照するAIです。誤情報ゼロのナレッジ基盤として使えます。右側の活用シーンをご覧ください。社内規程Bot、技術文書Q&amp;A、新人オンボーディング、製品マニュアル。どれも情シスへの問い合わせを劇的に減らせる領域です。Enterprise Searchが「発見」の機能だとすれば、NotebookLMは「蓄積と深掘り」の機能です。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3つ目、Agent Designerです。これはノーコードで業務エージェントを作れる機能ですが、Workspace Studioの無償版とは格が違います。下の比較表をご覧ください。ステップ数は無制限、サブエージェントで並列処理ができ、16以上の外部システムと連携し、全社にエージェントを展開して権限管理もできる。下の事例にある通り、KPMGでは2週間で全社員が約700個のエージェントを自作したそ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アーキテクチャの全体像です。一番上にGemini Enterpriseの基盤があり、その下に3つの主要機能。さらに下にプリビルトコネクタ16種類以上、そして既存の業務システム群に接続しています。右下の4つのポイントが重要です。Admin Consoleからの一元管理、Vertex AIでのインデックス化、元システムの権限継承、そしてCloud Audit Logsへの全操作記録。既存のIT資産を活かしながら構築できる設計になっています。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セキュリティ・コンプライアンスです。最も重要なのは一番上の行、お客様のデータはGeminiモデルの学習に一切使用されません。これは契約で保証されています。CMEKで暗号化キーを自社管理でき、VPC Service Controlsでネットワーク境界を制御、DLPで機密情報を自動検出、すべての操作は監査ログに残ります。ISO 42001、SOC、HIPAA、FedRAMP Highといった主要な認証もすべて取得済み。金融・医療の厳しい業界での実績もあります。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コンソールとガバナンスです。上の3つのカードが示す通り、ライセンス、ポリシー、コネクタの3領域を一元管理できます。特に重要なのは下の段階的ロールアウトの考え方です。いきなり全社に入れるのではなく、IT部門10名から始めて、営業30名、100名、全社とOU単位で広げていく。これにより、影響範囲を制御しながら確実に定着化を進めることが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競合比較として、Microsoft 365 Copilotとの比較を整理しました。価格は21ドル対30ドル。エディション選択の柔軟性、外部連携の標準搭載数、CMEKやVPC-SCといったセキュリティ機能、日本リージョン指定の可否。緑色の箇所がGemini Enterpriseの優位点です。下にまとめた3点、導入リードタイムの短さ、影響範囲の制御、部門別コスト最適化。情シスの視点で重要な差別化ポイントです。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第3部、弊社の構築・導入支援サービスのご紹介に入ります。製品の良さをご理解いただいた上で、では実際にどう導入するのか。弊社が責任を持ってご支援するフェーズ構成を、これから順にご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弊社の支援サービスは5つのフェーズで構成されます。アセスメント、環境構築、エージェント開発、パイロット、全社展開。特に真ん中のPhase 3、エージェント設計・開発が弊社の強みが最も発揮される領域です。下の4点、Google Cloudパートナーとしての技術力、Workspaceから運用支援までのワンストップ対応、中堅企業への導入知見、そして定着化まで伴走する姿勢、これが弊社を選んでいただく理由です。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、アセスメントと要件定義です。期間は2〜3週間。現状業務のヒアリングから始まり、AI活用候補の洗い出し、既存システムの調査、セキュリティ要件の確認、最適なエディションの選定まで行います。最終成果物は、スケジュール、体制、予算を含めた導入計画書です。ここで全体の設計をしっかり固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2、環境構築と初期設定です。期間は2〜3週間。Gemini Enterpriseのテナント構築、段階展開に対応したOU設計、CMEKやVPC-SCといったセキュリティポリシーの適用、コネクタの接続設定、そして管理者トレーニングまで行います。この段階でIT管理者の皆様に引き渡しができる状態を作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、エージェントの設計と開発です。弊社が最も力を入れる3〜6週間のフェーズです。業務プロセス分析からエージェント設計、プロトタイプ構築、外部システムとのAPI連携、精度検証とチューニングまで。最終的に本番稼働可能なエージェントと、設計ドキュメント一式をお渡しします。他社との最大の差別化ポイントがこ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、パイロット導入と利用促進です。10名規模のPOCを3〜4週間実施します。重要なのは下の効果測定テンプレートです。情報検索時間、文書作成時間、問い合わせ対応時間、満足度。BeforeとAfterを定量的に測定し、改善率を数字で出します。この数字が、次の全社展開の意思決定の根拠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、全社展開と運用改善です。ここからは継続支援になります。左の横フロー図のとおり、10名から30名、100名、全社へと段階的に広げていきます。右側5つのカードが継続支援の内容です。利用データ分析、エージェント追加開発、改善提案、定期レビュー、そして新機能のキャッチアップ。導入して終わりではなく、効果を最大化し続けるためのパートナーシップ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6ヶ月の導入ロードマップを時系列で示しました。Month 1でアセスメント、Month 1〜2で環境構築、Month 2〜3でエージェント開発、Month 3〜4でPOC、Month 4以降で段階展開です。5つのマイルストーン、要件確定、環境Ready、エージェントv1完成、POC効果報告、全社展開。それぞれが経営判断のポイントになります。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支援体制とコミュニケーション計画です。左が体制図、右がコミュニケーション計画。お客様側のプロジェクトオーナー、IT管理者、キーユーザーに対して、弊社からPM、テクニカルリード、エンジニア、Google Cloud連携窓口を配置します。週次定例、月次ステコミ、随時の技術相談、緊急対応と、お客様側の負荷を最小化する体制を組みます。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どんなエージェントを作れるのか、4つの具体事例でイメージを持っていただきます。社内問い合わせ自動対応で対応時間75%削減、技術文書検索で検索時間80%削減、受発注ステータス確認で85%削減、日次レポートは完全自動化で60分がゼロに。どれも情シスに頻繁に寄せられる問い合わせ対応その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効果のROI試算です。上の3つの数字に注目してください。ROIは286〜476%、投資回収期間はわずか1〜2ヶ月、月次削減効果は200名規模で180〜300万円。コストを上回る効果が短期で実現します。下のグローバル事例もご覧ください。KPMGは70%以上削減、Best Buyは対応時間90秒短縮、メルカリはROI500%、HCAヘルスケアは年間数百万時間の削減見込み。いずれも業種を問わず大きな成果が出ています。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料金体系です。上の表が3エディションの月額。Business 21ドル、Standard 30ドル、Plus 50ドル。全社展開にはStandardを推奨しています。下のスモールスタートの考え方をご覧ください。Studio体験は無料、10名POCは月3万円程度、30名展開で13万円、200名全社で90万円。小さく始めて効果を確認しながら段階的に広げていける設計です。支援サービス費用は、ご要件を伺った上で個別にお見積りいた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最後に、弊社を選んでいただく理由を5つにまとめました。Google Cloudパートナー認定、Workspaceからエージェントまでのワンストップ対応、エージェント開発力、中堅企業への導入知見、そして伴走型支援。特に5番目の伴走型が弊社の最大の特徴です。導入して終わりではなく、効果を最大化するまで一緒に走り続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本日のまとめとして、次のステップをご提案します。STEP 1はまず30分の無料相談、STEP 2はWorkspace Studioの無償デモ体験、STEP 3でPOCプランの策定。STEP 1とSTEP 2は完全無料、リスクゼロで始められます。ご興味をお持ちいただけましたら、下の連絡先までお気軽にお問い合わせください。本日はありがとうございました。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5445680" y="1143000"/>
            <a:ext cx="15850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FFFFF">
                    <a:alpha val="7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機密：お客様限り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33500" y="2817614"/>
            <a:ext cx="1390501" cy="44767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2903339"/>
            <a:ext cx="1104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PROPOSAL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33500" y="3608189"/>
            <a:ext cx="13735050" cy="21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0" b="1" spc="-156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Enterprise ご紹介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333500" y="6031111"/>
            <a:ext cx="137350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54" kern="0" dirty="0">
                <a:solidFill>
                  <a:srgbClr val="FFFFFF">
                    <a:alpha val="9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構築・導入・定着化支援のご提案 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333500" y="6983611"/>
            <a:ext cx="1219200" cy="381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8448675"/>
            <a:ext cx="18791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FFFFF">
                    <a:alpha val="6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8791575"/>
            <a:ext cx="18791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2026年●月●日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050804" y="8448675"/>
            <a:ext cx="21132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FFFFF">
                    <a:alpha val="6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50804" y="8791575"/>
            <a:ext cx="211321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●●株式会社 御中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002214" y="8448675"/>
            <a:ext cx="4201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FFFFF">
                    <a:alpha val="6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提案者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02214" y="8791575"/>
            <a:ext cx="42017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●●●● / Google Cloud パートナー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05000" cy="10287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 rot="10800000">
            <a:off x="733425" y="1140842"/>
            <a:ext cx="514350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 rot="10800000">
            <a:off x="785813" y="2986460"/>
            <a:ext cx="40957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40" kern="0" dirty="0">
                <a:solidFill>
                  <a:srgbClr val="FFF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 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38500" y="2405063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3962400" y="2113657"/>
            <a:ext cx="200188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spc="-42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Agenda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238500" y="4201418"/>
            <a:ext cx="13716000" cy="9525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8" name="Text 6"/>
          <p:cNvSpPr/>
          <p:nvPr/>
        </p:nvSpPr>
        <p:spPr>
          <a:xfrm>
            <a:off x="3238500" y="3401318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33900" y="3487043"/>
            <a:ext cx="732219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なぜ今、企業にAIエージェント基盤が必要なのか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3238500" y="5734943"/>
            <a:ext cx="13716000" cy="9525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11" name="Text 9"/>
          <p:cNvSpPr/>
          <p:nvPr/>
        </p:nvSpPr>
        <p:spPr>
          <a:xfrm>
            <a:off x="3238500" y="4553843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33900" y="4639568"/>
            <a:ext cx="571430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Enterprise 製品紹介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4533900" y="5182493"/>
            <a:ext cx="57143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3層構造と主要機能・セキュリティ／ガバナンス・競合比較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238500" y="7268468"/>
            <a:ext cx="13716000" cy="9525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15" name="Text 13"/>
          <p:cNvSpPr/>
          <p:nvPr/>
        </p:nvSpPr>
        <p:spPr>
          <a:xfrm>
            <a:off x="3238500" y="6087368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533900" y="6173093"/>
            <a:ext cx="527404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当社の構築・導入支援サービス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4533900" y="6716018"/>
            <a:ext cx="52740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5フェーズ支援フレームワーク・エージェント開発事例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238500" y="7620893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533900" y="7706618"/>
            <a:ext cx="366922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導入効果・次のステップ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62008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企業のAI活用の現状と情シスの課題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1962150"/>
            <a:ext cx="7966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市場データ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7763" y="2462213"/>
            <a:ext cx="31337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7788" y="2624138"/>
            <a:ext cx="28276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指標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281488" y="2462213"/>
            <a:ext cx="2295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3413" y="2624138"/>
            <a:ext cx="19716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日本SMB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77013" y="2462213"/>
            <a:ext cx="2295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8937" y="2624138"/>
            <a:ext cx="19716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グローバル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47763" y="3081338"/>
            <a:ext cx="313372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7788" y="3224213"/>
            <a:ext cx="28276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AI採用率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81488" y="3081338"/>
            <a:ext cx="2295525" cy="609600"/>
          </a:xfrm>
          <a:prstGeom prst="rect">
            <a:avLst/>
          </a:prstGeom>
          <a:solidFill>
            <a:srgbClr val="FCE8E6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413" y="3224213"/>
            <a:ext cx="19716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22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77013" y="3081338"/>
            <a:ext cx="229552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8937" y="3224213"/>
            <a:ext cx="19716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35%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7763" y="3690937"/>
            <a:ext cx="3133725" cy="60960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7788" y="3833812"/>
            <a:ext cx="28276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AIツール認知度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81488" y="3690937"/>
            <a:ext cx="2295525" cy="60960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413" y="3833812"/>
            <a:ext cx="19716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42%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77013" y="3690937"/>
            <a:ext cx="2295525" cy="60960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8937" y="3833812"/>
            <a:ext cx="19716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68%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7763" y="4300538"/>
            <a:ext cx="313372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47788" y="4443413"/>
            <a:ext cx="28276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本格導入計画あり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81488" y="4300538"/>
            <a:ext cx="229552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3413" y="4443413"/>
            <a:ext cx="19716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77013" y="4300538"/>
            <a:ext cx="2295525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8937" y="4443413"/>
            <a:ext cx="19716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47763" y="4910138"/>
            <a:ext cx="3133725" cy="94297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47788" y="5053013"/>
            <a:ext cx="28276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AIエージェント展開済み（経営幹部）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281488" y="4910138"/>
            <a:ext cx="2295525" cy="94297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3413" y="5053013"/>
            <a:ext cx="197167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577013" y="4910138"/>
            <a:ext cx="2295525" cy="942975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38937" y="5053013"/>
            <a:ext cx="197167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52%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43000" y="6048375"/>
            <a:ext cx="7734300" cy="667643"/>
          </a:xfrm>
          <a:prstGeom prst="roundRect">
            <a:avLst>
              <a:gd name="adj" fmla="val 8560"/>
            </a:avLst>
          </a:prstGeom>
          <a:solidFill>
            <a:srgbClr val="F8F9FA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000" y="6048375"/>
            <a:ext cx="38100" cy="667643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1409700" y="6219825"/>
            <a:ext cx="745617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日本のAIエージェント市場：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2024年 $5B → 2028年 $47B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（年率75%成長）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410700" y="1962150"/>
            <a:ext cx="79663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情シスが直面する3大課題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410700" y="2457450"/>
            <a:ext cx="7734300" cy="1305818"/>
          </a:xfrm>
          <a:prstGeom prst="roundRect">
            <a:avLst>
              <a:gd name="adj" fmla="val 11671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25025" y="2733675"/>
            <a:ext cx="419100" cy="4191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1" name="Text 39"/>
          <p:cNvSpPr/>
          <p:nvPr/>
        </p:nvSpPr>
        <p:spPr>
          <a:xfrm>
            <a:off x="9686925" y="27336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0334625" y="2733675"/>
            <a:ext cx="51736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情報サイロ化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334625" y="3162300"/>
            <a:ext cx="51736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社内システムが分散し、横断的な情報活用ができない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9410700" y="3934718"/>
            <a:ext cx="7734300" cy="1630561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5025" y="4210943"/>
            <a:ext cx="419100" cy="4191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6" name="Text 44"/>
          <p:cNvSpPr/>
          <p:nvPr/>
        </p:nvSpPr>
        <p:spPr>
          <a:xfrm>
            <a:off x="9686925" y="421094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334625" y="4210943"/>
            <a:ext cx="66909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セキュリティ・ガバナンス懸念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334625" y="4639568"/>
            <a:ext cx="6690932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生成AI導入で最も懸念される領域。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57%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がデータプライバシーを障壁に挙げる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9410700" y="5736729"/>
            <a:ext cx="7734300" cy="1305818"/>
          </a:xfrm>
          <a:prstGeom prst="roundRect">
            <a:avLst>
              <a:gd name="adj" fmla="val 11671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5025" y="6012954"/>
            <a:ext cx="419100" cy="4191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51" name="Text 49"/>
          <p:cNvSpPr/>
          <p:nvPr/>
        </p:nvSpPr>
        <p:spPr>
          <a:xfrm>
            <a:off x="9686925" y="601295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0334625" y="6012954"/>
            <a:ext cx="62312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導入後の定着化・運用負荷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0334625" y="6441579"/>
            <a:ext cx="623120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ツールを入れても使われない。管理・運用の負荷が情シスに集中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4014788"/>
            <a:ext cx="16089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FFFFFF">
                    <a:alpha val="6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333500" y="4800600"/>
            <a:ext cx="1371600" cy="1371600"/>
          </a:xfrm>
          <a:prstGeom prst="roundRect">
            <a:avLst>
              <a:gd name="adj" fmla="val 5556"/>
            </a:avLst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4450" y="4819650"/>
            <a:ext cx="14097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162300" y="4700588"/>
            <a:ext cx="929951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54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Enterprise 製品紹介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162300" y="5891213"/>
            <a:ext cx="92995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3層構造・主要機能・セキュリティ・競合比較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42759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Enterprise とは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962150"/>
            <a:ext cx="7772400" cy="1348680"/>
          </a:xfrm>
          <a:prstGeom prst="roundRect">
            <a:avLst>
              <a:gd name="adj" fmla="val 5650"/>
            </a:avLst>
          </a:prstGeom>
          <a:solidFill>
            <a:srgbClr val="EBF3F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962150"/>
            <a:ext cx="57150" cy="13486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209800"/>
            <a:ext cx="73580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社内のすべての情報にアクセスできる AIエージェント基盤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3539430"/>
            <a:ext cx="7772400" cy="1935361"/>
          </a:xfrm>
          <a:prstGeom prst="roundRect">
            <a:avLst>
              <a:gd name="adj" fmla="val 5906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1409700" y="3748980"/>
            <a:ext cx="74561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09700" y="4120455"/>
            <a:ext cx="745617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CRM・メール・Drive・Confluence を 個別に確認・横断集計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09700" y="4884241"/>
            <a:ext cx="74561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522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平均 1〜2時間 / 作業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43000" y="5703391"/>
            <a:ext cx="7772400" cy="1610618"/>
          </a:xfrm>
          <a:prstGeom prst="roundRect">
            <a:avLst>
              <a:gd name="adj" fmla="val 7097"/>
            </a:avLst>
          </a:prstGeom>
          <a:solidFill>
            <a:srgbClr val="EBF3FE"/>
          </a:solidFill>
          <a:ln/>
        </p:spPr>
      </p:sp>
      <p:sp>
        <p:nvSpPr>
          <p:cNvPr id="12" name="Text 10"/>
          <p:cNvSpPr/>
          <p:nvPr/>
        </p:nvSpPr>
        <p:spPr>
          <a:xfrm>
            <a:off x="1409700" y="5912941"/>
            <a:ext cx="74561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09700" y="6284416"/>
            <a:ext cx="745617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「この顧客の情報をまとめて」と質問するだけ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09700" y="6723459"/>
            <a:ext cx="74561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A85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平均 5〜10分 / 作業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7618809"/>
            <a:ext cx="2501801" cy="942975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6825" y="7780734"/>
            <a:ext cx="22541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66825" y="8152209"/>
            <a:ext cx="22541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コネクタ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78151" y="7618809"/>
            <a:ext cx="2501950" cy="942975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1976" y="7780734"/>
            <a:ext cx="2254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01976" y="8152209"/>
            <a:ext cx="2254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13450" y="7618809"/>
            <a:ext cx="2501950" cy="942975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275" y="7780734"/>
            <a:ext cx="2254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37275" y="8152209"/>
            <a:ext cx="2254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ROI事例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72600" y="1962150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3つのコア機能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372600" y="2457450"/>
            <a:ext cx="7772400" cy="1353443"/>
          </a:xfrm>
          <a:prstGeom prst="roundRect">
            <a:avLst>
              <a:gd name="adj" fmla="val 1126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3801368"/>
            <a:ext cx="7772400" cy="9525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27" name="Shape 25"/>
          <p:cNvSpPr/>
          <p:nvPr/>
        </p:nvSpPr>
        <p:spPr>
          <a:xfrm>
            <a:off x="9372600" y="2457450"/>
            <a:ext cx="7772400" cy="9525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28" name="Shape 26"/>
          <p:cNvSpPr/>
          <p:nvPr/>
        </p:nvSpPr>
        <p:spPr>
          <a:xfrm>
            <a:off x="9372600" y="2457450"/>
            <a:ext cx="57150" cy="1353443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9" name="Shape 27"/>
          <p:cNvSpPr/>
          <p:nvPr/>
        </p:nvSpPr>
        <p:spPr>
          <a:xfrm>
            <a:off x="17135475" y="2457450"/>
            <a:ext cx="9525" cy="1353443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30" name="Text 28"/>
          <p:cNvSpPr/>
          <p:nvPr/>
        </p:nvSpPr>
        <p:spPr>
          <a:xfrm>
            <a:off x="9734550" y="2733675"/>
            <a:ext cx="73090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Enterprise Search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734550" y="3209925"/>
            <a:ext cx="730900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権限を維持したまま複数システムを横断検索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372600" y="4001393"/>
            <a:ext cx="7772400" cy="1353443"/>
          </a:xfrm>
          <a:prstGeom prst="roundRect">
            <a:avLst>
              <a:gd name="adj" fmla="val 11260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72600" y="5345311"/>
            <a:ext cx="7772400" cy="9525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34" name="Shape 32"/>
          <p:cNvSpPr/>
          <p:nvPr/>
        </p:nvSpPr>
        <p:spPr>
          <a:xfrm>
            <a:off x="9372600" y="4001393"/>
            <a:ext cx="7772400" cy="9525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35" name="Shape 33"/>
          <p:cNvSpPr/>
          <p:nvPr/>
        </p:nvSpPr>
        <p:spPr>
          <a:xfrm>
            <a:off x="9372600" y="4001393"/>
            <a:ext cx="57150" cy="1353443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6" name="Shape 34"/>
          <p:cNvSpPr/>
          <p:nvPr/>
        </p:nvSpPr>
        <p:spPr>
          <a:xfrm>
            <a:off x="17135475" y="4001393"/>
            <a:ext cx="9525" cy="1353443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37" name="Text 35"/>
          <p:cNvSpPr/>
          <p:nvPr/>
        </p:nvSpPr>
        <p:spPr>
          <a:xfrm>
            <a:off x="9734550" y="4277618"/>
            <a:ext cx="73090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NotebookLM Enterprise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9734550" y="4753868"/>
            <a:ext cx="730900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社内文書のみ参照。誤情報ゼロのナレッジ活用基盤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372600" y="5545336"/>
            <a:ext cx="7772400" cy="1353443"/>
          </a:xfrm>
          <a:prstGeom prst="roundRect">
            <a:avLst>
              <a:gd name="adj" fmla="val 11260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9372600" y="6889254"/>
            <a:ext cx="7772400" cy="9525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41" name="Shape 39"/>
          <p:cNvSpPr/>
          <p:nvPr/>
        </p:nvSpPr>
        <p:spPr>
          <a:xfrm>
            <a:off x="9372600" y="5545336"/>
            <a:ext cx="7772400" cy="9525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42" name="Shape 40"/>
          <p:cNvSpPr/>
          <p:nvPr/>
        </p:nvSpPr>
        <p:spPr>
          <a:xfrm>
            <a:off x="9372600" y="5545336"/>
            <a:ext cx="57150" cy="1353443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3" name="Shape 41"/>
          <p:cNvSpPr/>
          <p:nvPr/>
        </p:nvSpPr>
        <p:spPr>
          <a:xfrm>
            <a:off x="17135475" y="5545336"/>
            <a:ext cx="9525" cy="1353443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44" name="Text 42"/>
          <p:cNvSpPr/>
          <p:nvPr/>
        </p:nvSpPr>
        <p:spPr>
          <a:xfrm>
            <a:off x="9734550" y="5821561"/>
            <a:ext cx="73090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Designer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9734550" y="6297811"/>
            <a:ext cx="730900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ノーコードで業務エージェントを構築・展開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642067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3層構造：段階的に導入できるAI基盤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3414713"/>
            <a:ext cx="7360890" cy="1076325"/>
          </a:xfrm>
          <a:prstGeom prst="roundRect">
            <a:avLst>
              <a:gd name="adj" fmla="val 8850"/>
            </a:avLst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624263"/>
            <a:ext cx="40270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Enterprise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09700" y="3976687"/>
            <a:ext cx="40270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Designer / 横断検索 / NotebookLM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976914" y="3762375"/>
            <a:ext cx="133647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$21〜$50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32587" y="4662488"/>
            <a:ext cx="75817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↑ アップセル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43000" y="5110163"/>
            <a:ext cx="7360890" cy="1076325"/>
          </a:xfrm>
          <a:prstGeom prst="roundRect">
            <a:avLst>
              <a:gd name="adj" fmla="val 8850"/>
            </a:avLst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1409700" y="5319713"/>
            <a:ext cx="36929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Workspace Studio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09700" y="5672138"/>
            <a:ext cx="36929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個人タスク自動化（最大20ステップ）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979890" y="5495925"/>
            <a:ext cx="1333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追加費用なし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32587" y="6357938"/>
            <a:ext cx="75817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↑ 前提要件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6805613"/>
            <a:ext cx="7360890" cy="1076325"/>
          </a:xfrm>
          <a:prstGeom prst="roundRect">
            <a:avLst>
              <a:gd name="adj" fmla="val 8850"/>
            </a:avLst>
          </a:prstGeom>
          <a:solidFill>
            <a:srgbClr val="5F6368"/>
          </a:solidFill>
          <a:ln/>
        </p:spPr>
      </p:sp>
      <p:sp>
        <p:nvSpPr>
          <p:cNvPr id="15" name="Text 13"/>
          <p:cNvSpPr/>
          <p:nvPr/>
        </p:nvSpPr>
        <p:spPr>
          <a:xfrm>
            <a:off x="1409700" y="7015163"/>
            <a:ext cx="49349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Workspace Business Standard〜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09700" y="7367587"/>
            <a:ext cx="49349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Gemini基本機能含む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759750" y="7181850"/>
            <a:ext cx="5536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961090" y="1962150"/>
            <a:ext cx="84294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エディション比較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965853" y="2405063"/>
            <a:ext cx="3339405" cy="9239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05258" y="2405063"/>
            <a:ext cx="1745010" cy="9239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05283" y="2566988"/>
            <a:ext cx="14211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highlight>
                  <a:srgbClr val="4285F4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Business 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$21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4050268" y="2405063"/>
            <a:ext cx="1796058" cy="923925"/>
          </a:xfrm>
          <a:prstGeom prst="rect">
            <a:avLst/>
          </a:prstGeom>
          <a:solidFill>
            <a:srgbClr val="1A73E8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250293" y="2566988"/>
            <a:ext cx="147220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highlight>
                  <a:srgbClr val="1A73E8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Standard 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$30 ★推奨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846326" y="2405063"/>
            <a:ext cx="1293912" cy="9239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46351" y="2566988"/>
            <a:ext cx="97006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highlight>
                  <a:srgbClr val="4285F4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Plus 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$50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965853" y="3328988"/>
            <a:ext cx="333940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5878" y="3471863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Enterprise Search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2305258" y="3328988"/>
            <a:ext cx="174501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467183" y="3471863"/>
            <a:ext cx="14211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4050268" y="3328988"/>
            <a:ext cx="1796058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212193" y="3471863"/>
            <a:ext cx="1472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5846326" y="3328988"/>
            <a:ext cx="1293912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8251" y="3471863"/>
            <a:ext cx="970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965853" y="3881438"/>
            <a:ext cx="333940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5878" y="4024313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NotebookLM Enterprise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2305258" y="3881438"/>
            <a:ext cx="1745010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67183" y="4024313"/>
            <a:ext cx="14211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4050268" y="3881438"/>
            <a:ext cx="1796058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12193" y="4024313"/>
            <a:ext cx="1472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5846326" y="3881438"/>
            <a:ext cx="1293912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08251" y="4024313"/>
            <a:ext cx="970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965853" y="4433888"/>
            <a:ext cx="333940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5878" y="4576763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Designer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2305258" y="4433888"/>
            <a:ext cx="174501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467183" y="4576763"/>
            <a:ext cx="14211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4050268" y="4433888"/>
            <a:ext cx="1796058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212193" y="4576763"/>
            <a:ext cx="1472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5846326" y="4433888"/>
            <a:ext cx="1293912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008251" y="4576763"/>
            <a:ext cx="970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965853" y="4986338"/>
            <a:ext cx="333940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65878" y="5129213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Code Assist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12305258" y="4986338"/>
            <a:ext cx="1745010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467183" y="5129213"/>
            <a:ext cx="14211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4050268" y="4986338"/>
            <a:ext cx="1796058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212193" y="5129213"/>
            <a:ext cx="1472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Standard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5846326" y="4986338"/>
            <a:ext cx="1293912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008251" y="5129213"/>
            <a:ext cx="970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Plus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8965853" y="5538788"/>
            <a:ext cx="333940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65878" y="5681663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CMEK / VPC-SC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2305258" y="5538788"/>
            <a:ext cx="174501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467183" y="5681663"/>
            <a:ext cx="14211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4050268" y="5538788"/>
            <a:ext cx="1796058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212193" y="5681663"/>
            <a:ext cx="1472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5846326" y="5538788"/>
            <a:ext cx="1293912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008251" y="5681663"/>
            <a:ext cx="970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8965853" y="6091238"/>
            <a:ext cx="333940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65878" y="6234113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対象規模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12305258" y="6091238"/>
            <a:ext cx="1745010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2467183" y="6234113"/>
            <a:ext cx="14211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〜300名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14050268" y="6091238"/>
            <a:ext cx="1796058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212193" y="6234113"/>
            <a:ext cx="1472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5846326" y="6091238"/>
            <a:ext cx="1293912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008251" y="6234113"/>
            <a:ext cx="970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開発者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771416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主要機能① Enterprise Search（横断検索）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1962150"/>
            <a:ext cx="824103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権限を維持したまま、 16+システムを自然言語で横断検索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2918222"/>
            <a:ext cx="2286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28750" y="2918222"/>
            <a:ext cx="547102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権限継承検索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閲覧権限のないデータは非表示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3428702"/>
            <a:ext cx="2286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28750" y="3428702"/>
            <a:ext cx="470072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引用元付き回答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ハルシネーション防止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3939183"/>
            <a:ext cx="2286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28750" y="3939183"/>
            <a:ext cx="578818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リアルタイム同期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Google系はリアルタイム反映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4449663"/>
            <a:ext cx="2286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28750" y="4449663"/>
            <a:ext cx="484007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カスタムコネクタ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kintone等も接続可能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5131594"/>
            <a:ext cx="8001000" cy="1466701"/>
          </a:xfrm>
          <a:prstGeom prst="roundRect">
            <a:avLst>
              <a:gd name="adj" fmla="val 6494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650" y="5341144"/>
            <a:ext cx="77308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活用イメージ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90650" y="5684044"/>
            <a:ext cx="7730871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「○○社の過去クレーム対応を教えて」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90650" y="6064002"/>
            <a:ext cx="773087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Salesforce + Gmail + Drive を横断して回答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601200" y="1962150"/>
            <a:ext cx="77701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接続可能なシステム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01200" y="2438400"/>
            <a:ext cx="777011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Google系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601200" y="2858393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5025" y="3001268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Drive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510963" y="2858393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34788" y="3001268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Gmail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3420725" y="2858393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544550" y="3001268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Calendar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5330488" y="2858393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454312" y="3001268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BigQuery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0" y="3591818"/>
            <a:ext cx="777011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SaaS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601200" y="4011811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25025" y="4154686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Salesforce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510963" y="4011811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34788" y="4154686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ServiceNow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420725" y="4011811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544550" y="4154686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5330488" y="4011811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454312" y="4154686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Box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01200" y="4745236"/>
            <a:ext cx="777011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開発系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9601200" y="5165229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25025" y="5308104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Jira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1510963" y="5165229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34788" y="5308104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3420725" y="5165229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544550" y="5308104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5330488" y="5165229"/>
            <a:ext cx="1814513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454312" y="5308104"/>
            <a:ext cx="15668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Linear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601200" y="5936754"/>
            <a:ext cx="7543800" cy="561975"/>
          </a:xfrm>
          <a:prstGeom prst="roundRect">
            <a:avLst>
              <a:gd name="adj" fmla="val 16949"/>
            </a:avLst>
          </a:prstGeom>
          <a:solidFill>
            <a:srgbClr val="F8F9FA"/>
          </a:solidFill>
          <a:ln w="9525">
            <a:solidFill>
              <a:srgbClr val="D2E3FC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9649968" y="6079629"/>
            <a:ext cx="74462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 カスタムコネクタ（kintone・自社開発システム 等）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650069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主要機能② NotebookLM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1962150"/>
            <a:ext cx="824103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登録した社内文書だけを参照 — 誤情報ゼロのナレッジ基盤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7763" y="2922984"/>
            <a:ext cx="21050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7788" y="3065859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対応形式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52788" y="2922984"/>
            <a:ext cx="5886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2813" y="3065859"/>
            <a:ext cx="5662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PDF, Word, Excel, PPT, Google文書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47763" y="3475434"/>
            <a:ext cx="21050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7788" y="3618309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容量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52788" y="3475434"/>
            <a:ext cx="5886450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2813" y="3618309"/>
            <a:ext cx="5662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300ソース/ノートブック・200MB/ソース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7763" y="4027884"/>
            <a:ext cx="21050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7788" y="4170759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52788" y="4027884"/>
            <a:ext cx="5886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2813" y="4170759"/>
            <a:ext cx="5662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全回答に参照元リンクを付与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7763" y="4580334"/>
            <a:ext cx="21050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7788" y="4723209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Audio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52788" y="4580334"/>
            <a:ext cx="5886450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2813" y="4723209"/>
            <a:ext cx="5662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ポッドキャスト形式で音声化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47763" y="5132784"/>
            <a:ext cx="21050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7788" y="5275659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52788" y="5132784"/>
            <a:ext cx="5886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2813" y="5275659"/>
            <a:ext cx="5662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VPC-SC, CMEK, IAM対応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43000" y="5899547"/>
            <a:ext cx="8001000" cy="933450"/>
          </a:xfrm>
          <a:prstGeom prst="roundRect">
            <a:avLst>
              <a:gd name="adj" fmla="val 10204"/>
            </a:avLst>
          </a:prstGeom>
          <a:solidFill>
            <a:srgbClr val="EBF3FE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6090047"/>
            <a:ext cx="35318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Enterprise Search </a:t>
            </a:r>
            <a:pPr algn="l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組織全体を「発見」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91100" y="6147197"/>
            <a:ext cx="3810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486400" y="6090047"/>
            <a:ext cx="35318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NotebookLM </a:t>
            </a:r>
            <a:pPr algn="l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特定テーマを「深掘り」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0" y="1962150"/>
            <a:ext cx="77701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IT部門での活用シーン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601200" y="2438400"/>
            <a:ext cx="7543800" cy="1353443"/>
          </a:xfrm>
          <a:prstGeom prst="roundRect">
            <a:avLst>
              <a:gd name="adj" fmla="val 1126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15525" y="2714625"/>
            <a:ext cx="71226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社内規程Bot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915525" y="3190875"/>
            <a:ext cx="712260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人事部門への問い合わせを大幅削減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601200" y="3963293"/>
            <a:ext cx="7543800" cy="1353443"/>
          </a:xfrm>
          <a:prstGeom prst="roundRect">
            <a:avLst>
              <a:gd name="adj" fmla="val 1126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15525" y="4239518"/>
            <a:ext cx="71226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技術文書Q&amp;A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915525" y="4715768"/>
            <a:ext cx="712260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障害対応時のナレッジ検索を高速化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601200" y="5488186"/>
            <a:ext cx="7543800" cy="1353443"/>
          </a:xfrm>
          <a:prstGeom prst="roundRect">
            <a:avLst>
              <a:gd name="adj" fmla="val 1126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15525" y="5764411"/>
            <a:ext cx="71226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新入社員オンボーディング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9915525" y="6240661"/>
            <a:ext cx="712260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先輩社員への質問を代替し、即戦力化を加速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601200" y="7013079"/>
            <a:ext cx="7543800" cy="1353443"/>
          </a:xfrm>
          <a:prstGeom prst="roundRect">
            <a:avLst>
              <a:gd name="adj" fmla="val 1126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15525" y="7289304"/>
            <a:ext cx="71226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製品マニュアルBot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9915525" y="7765554"/>
            <a:ext cx="712260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CS対応品質を標準化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488973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主要機能③ Agent Designer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962150"/>
            <a:ext cx="5206901" cy="1821061"/>
          </a:xfrm>
          <a:prstGeom prst="roundRect">
            <a:avLst>
              <a:gd name="adj" fmla="val 6277"/>
            </a:avLst>
          </a:prstGeom>
          <a:solidFill>
            <a:srgbClr val="EBF3F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90750"/>
            <a:ext cx="48921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FLOW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371600" y="2495550"/>
            <a:ext cx="48921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ビジュアルキャンバス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905125"/>
            <a:ext cx="4892192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ドラッグ&amp;ドロップで業務フロー設計。自然言語入力からAI自動生成も可能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40401" y="1962150"/>
            <a:ext cx="5207050" cy="1821061"/>
          </a:xfrm>
          <a:prstGeom prst="roundRect">
            <a:avLst>
              <a:gd name="adj" fmla="val 6277"/>
            </a:avLst>
          </a:prstGeom>
          <a:solidFill>
            <a:srgbClr val="E6F4EA"/>
          </a:solidFill>
          <a:ln/>
        </p:spPr>
      </p:sp>
      <p:sp>
        <p:nvSpPr>
          <p:cNvPr id="9" name="Text 7"/>
          <p:cNvSpPr/>
          <p:nvPr/>
        </p:nvSpPr>
        <p:spPr>
          <a:xfrm>
            <a:off x="6769001" y="2190750"/>
            <a:ext cx="48923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34A85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SCHEDULE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769001" y="2495550"/>
            <a:ext cx="48923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定期実行タスク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9001" y="2905125"/>
            <a:ext cx="489234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毎朝8時に売上レポート自動生成・配信 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937950" y="1962150"/>
            <a:ext cx="5207050" cy="1821061"/>
          </a:xfrm>
          <a:prstGeom prst="roundRect">
            <a:avLst>
              <a:gd name="adj" fmla="val 6277"/>
            </a:avLst>
          </a:prstGeom>
          <a:solidFill>
            <a:srgbClr val="FEF7E0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6550" y="2190750"/>
            <a:ext cx="48923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35" kern="0" dirty="0">
                <a:solidFill>
                  <a:srgbClr val="B759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PREVIEW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166550" y="2495550"/>
            <a:ext cx="48923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本番前テスト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66550" y="2905125"/>
            <a:ext cx="489234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インタラクティブにエージェント動作を検証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47763" y="4321373"/>
            <a:ext cx="2676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7788" y="4483298"/>
            <a:ext cx="23567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比較項目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3824288" y="4321373"/>
            <a:ext cx="6142881" cy="619125"/>
          </a:xfrm>
          <a:prstGeom prst="rect">
            <a:avLst/>
          </a:prstGeom>
          <a:solidFill>
            <a:srgbClr val="5F6368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2169" y="4483298"/>
            <a:ext cx="59271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Workspace Studio（無償）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967168" y="4321373"/>
            <a:ext cx="7173069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9597" y="4483298"/>
            <a:ext cx="69882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Designer（Enterprise）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47763" y="4940498"/>
            <a:ext cx="267652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7788" y="5083373"/>
            <a:ext cx="23567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ステップ数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3824288" y="4940498"/>
            <a:ext cx="6142881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2169" y="5083373"/>
            <a:ext cx="59271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最大20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9967168" y="4940498"/>
            <a:ext cx="7173069" cy="561975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9597" y="5083373"/>
            <a:ext cx="69882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制限なし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147763" y="5502473"/>
            <a:ext cx="2676525" cy="56197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7788" y="5645348"/>
            <a:ext cx="23567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サブエージェント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3824288" y="5502473"/>
            <a:ext cx="6142881" cy="56197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2169" y="5645348"/>
            <a:ext cx="59271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非対応</a:t>
            </a:r>
            <a:endParaRPr lang="en-US" sz="1575" dirty="0"/>
          </a:p>
        </p:txBody>
      </p:sp>
      <p:sp>
        <p:nvSpPr>
          <p:cNvPr id="32" name="Shape 30"/>
          <p:cNvSpPr/>
          <p:nvPr/>
        </p:nvSpPr>
        <p:spPr>
          <a:xfrm>
            <a:off x="9967168" y="5502473"/>
            <a:ext cx="7173069" cy="561975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9597" y="5645348"/>
            <a:ext cx="69882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対応（並列処理可能）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1147763" y="6064448"/>
            <a:ext cx="267652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47788" y="6207323"/>
            <a:ext cx="23567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データソース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3824288" y="6064448"/>
            <a:ext cx="6142881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2169" y="6207323"/>
            <a:ext cx="59271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Workspace内中心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9967168" y="6064448"/>
            <a:ext cx="7173069" cy="561975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9597" y="6207323"/>
            <a:ext cx="69882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16+外部システム横断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1147763" y="6626423"/>
            <a:ext cx="2676525" cy="56197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47788" y="6769298"/>
            <a:ext cx="23567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組織展開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3824288" y="6626423"/>
            <a:ext cx="6142881" cy="56197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2169" y="6769298"/>
            <a:ext cx="59271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個人のみ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9967168" y="6626423"/>
            <a:ext cx="7173069" cy="561975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9597" y="6769298"/>
            <a:ext cx="69882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全社展開・権限管理</a:t>
            </a:r>
            <a:endParaRPr lang="en-US" sz="1575" dirty="0"/>
          </a:p>
        </p:txBody>
      </p:sp>
      <p:sp>
        <p:nvSpPr>
          <p:cNvPr id="46" name="Shape 44"/>
          <p:cNvSpPr/>
          <p:nvPr/>
        </p:nvSpPr>
        <p:spPr>
          <a:xfrm>
            <a:off x="1147763" y="7188398"/>
            <a:ext cx="2676525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47788" y="7331273"/>
            <a:ext cx="23567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ガバナンス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3824288" y="7188398"/>
            <a:ext cx="6142881" cy="56197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2169" y="7331273"/>
            <a:ext cx="59271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限定的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9967168" y="7188398"/>
            <a:ext cx="7173069" cy="561975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9597" y="7331273"/>
            <a:ext cx="69882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監査ログ・利用分析・ポリシー制御</a:t>
            </a:r>
            <a:endParaRPr lang="en-US" sz="1575" dirty="0"/>
          </a:p>
        </p:txBody>
      </p:sp>
      <p:sp>
        <p:nvSpPr>
          <p:cNvPr id="52" name="Shape 50"/>
          <p:cNvSpPr/>
          <p:nvPr/>
        </p:nvSpPr>
        <p:spPr>
          <a:xfrm>
            <a:off x="1143000" y="8288536"/>
            <a:ext cx="16002000" cy="809625"/>
          </a:xfrm>
          <a:prstGeom prst="roundRect">
            <a:avLst>
              <a:gd name="adj" fmla="val 11765"/>
            </a:avLst>
          </a:prstGeom>
          <a:solidFill>
            <a:srgbClr val="FEF7E0"/>
          </a:solidFill>
          <a:ln w="9525">
            <a:solidFill>
              <a:srgbClr val="FDE3B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00175" y="8469511"/>
            <a:ext cx="1596771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7590B"/>
                </a:solidFill>
                <a:highlight>
                  <a:srgbClr val="FEF7E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 </a:t>
            </a:r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KPMG：</a:t>
            </a:r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highlight>
                  <a:srgbClr val="FEF7E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全社員が2週間で約</a:t>
            </a:r>
            <a:pPr algn="l" indent="0" marL="0">
              <a:buNone/>
            </a:pPr>
            <a:r>
              <a:rPr lang="en-US" sz="1650" b="1" dirty="0">
                <a:solidFill>
                  <a:srgbClr val="F9731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700個</a:t>
            </a:r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highlight>
                  <a:srgbClr val="FEF7E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のエージェントを自作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50114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システム連携アーキテクチャ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3514725"/>
            <a:ext cx="9921180" cy="771525"/>
          </a:xfrm>
          <a:prstGeom prst="roundRect">
            <a:avLst>
              <a:gd name="adj" fmla="val 12346"/>
            </a:avLst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1203732" y="3724275"/>
            <a:ext cx="979971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Enterprise AI エージェント基盤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4182" y="4419600"/>
            <a:ext cx="102188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│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43000" y="4857750"/>
            <a:ext cx="3230761" cy="638175"/>
          </a:xfrm>
          <a:prstGeom prst="roundRect">
            <a:avLst>
              <a:gd name="adj" fmla="val 14925"/>
            </a:avLst>
          </a:prstGeom>
          <a:solidFill>
            <a:srgbClr val="EBF3FE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5514" y="5038725"/>
            <a:ext cx="29657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Enterprise Search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8061" y="4857750"/>
            <a:ext cx="3230910" cy="638175"/>
          </a:xfrm>
          <a:prstGeom prst="roundRect">
            <a:avLst>
              <a:gd name="adj" fmla="val 14925"/>
            </a:avLst>
          </a:prstGeom>
          <a:solidFill>
            <a:srgbClr val="EBF3FE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0572" y="5038725"/>
            <a:ext cx="29658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NotebookLM Enterprise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33271" y="4857750"/>
            <a:ext cx="3230910" cy="638175"/>
          </a:xfrm>
          <a:prstGeom prst="roundRect">
            <a:avLst>
              <a:gd name="adj" fmla="val 14925"/>
            </a:avLst>
          </a:prstGeom>
          <a:solidFill>
            <a:srgbClr val="EBF3FE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65782" y="5038725"/>
            <a:ext cx="29658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Designer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4182" y="5629275"/>
            <a:ext cx="102188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6067425"/>
            <a:ext cx="9921180" cy="666750"/>
          </a:xfrm>
          <a:prstGeom prst="roundRect">
            <a:avLst>
              <a:gd name="adj" fmla="val 14286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5157" y="6248400"/>
            <a:ext cx="98568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プリビルトコネクタ（16+種類）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4182" y="6867525"/>
            <a:ext cx="102188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43000" y="7305675"/>
            <a:ext cx="135195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0625" y="7429500"/>
            <a:ext cx="12567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71155" y="7305675"/>
            <a:ext cx="135195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8780" y="7429500"/>
            <a:ext cx="12567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99309" y="7305675"/>
            <a:ext cx="135195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6934" y="7429500"/>
            <a:ext cx="12567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27464" y="7305675"/>
            <a:ext cx="1352104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5089" y="7429500"/>
            <a:ext cx="12568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ServiceNow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5768" y="7305675"/>
            <a:ext cx="135195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393" y="7429500"/>
            <a:ext cx="12567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Confluence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83922" y="7305675"/>
            <a:ext cx="135195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1547" y="7429500"/>
            <a:ext cx="125670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Jira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712077" y="7305675"/>
            <a:ext cx="1352104" cy="47625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9525">
            <a:solidFill>
              <a:srgbClr val="D2E3F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9759702" y="7429500"/>
            <a:ext cx="12568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カスタム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45180" y="1962150"/>
            <a:ext cx="5870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データフローと権限管理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1445180" y="2438400"/>
            <a:ext cx="342900" cy="3429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3" name="Text 31"/>
          <p:cNvSpPr/>
          <p:nvPr/>
        </p:nvSpPr>
        <p:spPr>
          <a:xfrm>
            <a:off x="11407080" y="243840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921430" y="2438400"/>
            <a:ext cx="382343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Admin Consoleからコネクタ設定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1445180" y="3006030"/>
            <a:ext cx="342900" cy="3429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6" name="Text 34"/>
          <p:cNvSpPr/>
          <p:nvPr/>
        </p:nvSpPr>
        <p:spPr>
          <a:xfrm>
            <a:off x="11407080" y="300603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921430" y="3006030"/>
            <a:ext cx="443890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Vertex AI Search基盤でインデックス化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1445180" y="3573661"/>
            <a:ext cx="342900" cy="3429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9" name="Text 37"/>
          <p:cNvSpPr/>
          <p:nvPr/>
        </p:nvSpPr>
        <p:spPr>
          <a:xfrm>
            <a:off x="11407080" y="357366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921430" y="3573661"/>
            <a:ext cx="3818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元システムの権限をそのまま継承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1445180" y="4141291"/>
            <a:ext cx="342900" cy="3429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2" name="Text 40"/>
          <p:cNvSpPr/>
          <p:nvPr/>
        </p:nvSpPr>
        <p:spPr>
          <a:xfrm>
            <a:off x="11407080" y="414129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1921430" y="4141291"/>
            <a:ext cx="37869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Cloud Audit Logsに全操作を記録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576887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セキュリティ・コンプライアンス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763" y="1966912"/>
            <a:ext cx="21050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7788" y="2128838"/>
            <a:ext cx="178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3252788" y="1966912"/>
            <a:ext cx="28670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52813" y="2128838"/>
            <a:ext cx="25529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119813" y="1966912"/>
            <a:ext cx="110204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9838" y="2128838"/>
            <a:ext cx="109509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7763" y="2586038"/>
            <a:ext cx="2105025" cy="110490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7788" y="2728913"/>
            <a:ext cx="1781175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データ保護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52788" y="2586038"/>
            <a:ext cx="28670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2813" y="2728913"/>
            <a:ext cx="2552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データ非学習保証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19813" y="2586038"/>
            <a:ext cx="110204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9838" y="2728913"/>
            <a:ext cx="10950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顧客データはGeminiモデルの学習に一切使用されない（契約保証）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52788" y="3138488"/>
            <a:ext cx="28670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2813" y="3281363"/>
            <a:ext cx="2552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データリージョン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19813" y="3138488"/>
            <a:ext cx="110204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9838" y="3281363"/>
            <a:ext cx="10950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日本リージョン（asia-northeast1）でのデータ保管可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47763" y="3690937"/>
            <a:ext cx="21050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7788" y="3833812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暗号化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52788" y="3690937"/>
            <a:ext cx="28670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2813" y="3833812"/>
            <a:ext cx="2552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CMEK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19813" y="3690937"/>
            <a:ext cx="110204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9838" y="3833812"/>
            <a:ext cx="10950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顧客管理の暗号化キーで完全制御（Standard以上）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47763" y="4243388"/>
            <a:ext cx="21050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47788" y="4386263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ネットワーク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52788" y="4243388"/>
            <a:ext cx="28670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2813" y="4386263"/>
            <a:ext cx="2552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VPC Service Controls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19813" y="4243388"/>
            <a:ext cx="110204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9838" y="4386263"/>
            <a:ext cx="10950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ネットワーク境界でAPIアクセスを制御（Standard以上）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47763" y="4795838"/>
            <a:ext cx="21050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47788" y="4938713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情報漏洩防止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252788" y="4795838"/>
            <a:ext cx="28670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2813" y="4938713"/>
            <a:ext cx="2552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DLP統合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119813" y="4795838"/>
            <a:ext cx="110204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9838" y="4938713"/>
            <a:ext cx="10950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既存Workspace DLPルールと連携し、機密情報を自動検出・ブロック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147763" y="5348288"/>
            <a:ext cx="21050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47788" y="5491163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監査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252788" y="5348288"/>
            <a:ext cx="28670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2813" y="5491163"/>
            <a:ext cx="2552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監査ログ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119813" y="5348288"/>
            <a:ext cx="110204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9838" y="5491163"/>
            <a:ext cx="10950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Cloud Audit Logsに全操作を記録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147763" y="5900738"/>
            <a:ext cx="21050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47788" y="6043613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認証規格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252788" y="5900738"/>
            <a:ext cx="138874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52813" y="6043613"/>
            <a:ext cx="139040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ISO 42001 </a:t>
            </a:r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highlight>
                  <a:srgbClr val="FFFFFF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 </a:t>
            </a:r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SOC 1,2,3 </a:t>
            </a:r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highlight>
                  <a:srgbClr val="FFFFFF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 </a:t>
            </a:r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HIPAA </a:t>
            </a:r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highlight>
                  <a:srgbClr val="FFFFFF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 </a:t>
            </a:r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FedRAMP High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147763" y="6453188"/>
            <a:ext cx="2105025" cy="552450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47788" y="6596063"/>
            <a:ext cx="17811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法令対応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3252788" y="6453188"/>
            <a:ext cx="28670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2813" y="6596063"/>
            <a:ext cx="2552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APPI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119813" y="6453188"/>
            <a:ext cx="110204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19838" y="6596063"/>
            <a:ext cx="10950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日本の個人情報保護法に準拠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143000" y="7543800"/>
            <a:ext cx="16002000" cy="647700"/>
          </a:xfrm>
          <a:prstGeom prst="roundRect">
            <a:avLst>
              <a:gd name="adj" fmla="val 8824"/>
            </a:avLst>
          </a:prstGeom>
          <a:solidFill>
            <a:srgbClr val="E6F4EA"/>
          </a:solidFill>
          <a:ln/>
        </p:spPr>
      </p:sp>
      <p:sp>
        <p:nvSpPr>
          <p:cNvPr id="55" name="Shape 53"/>
          <p:cNvSpPr/>
          <p:nvPr/>
        </p:nvSpPr>
        <p:spPr>
          <a:xfrm>
            <a:off x="1143000" y="7543800"/>
            <a:ext cx="47625" cy="6477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6" name="Text 54"/>
          <p:cNvSpPr/>
          <p:nvPr/>
        </p:nvSpPr>
        <p:spPr>
          <a:xfrm>
            <a:off x="1438275" y="7715250"/>
            <a:ext cx="159391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金融・医療での導入実績：</a:t>
            </a:r>
            <a:pPr algn="l" indent="0" marL="0">
              <a:buNone/>
            </a:pPr>
            <a:r>
              <a:rPr lang="en-US" sz="1650" dirty="0">
                <a:solidFill>
                  <a:srgbClr val="1E7E34"/>
                </a:solidFill>
                <a:highlight>
                  <a:srgbClr val="E6F4EA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Macquarie Bank、Berenberg Bank、HCA Healthcare（190病院）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504287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管理コンソールとガバナンス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962150"/>
            <a:ext cx="5181600" cy="2021086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7325" y="2238375"/>
            <a:ext cx="46895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57325" y="2581275"/>
            <a:ext cx="468953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ライセンス・機能制御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57325" y="3057525"/>
            <a:ext cx="4689539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OU単位でエディション割当 機能の有効化／無効化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53200" y="1962150"/>
            <a:ext cx="5181600" cy="2021086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67525" y="2238375"/>
            <a:ext cx="46895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67525" y="2581275"/>
            <a:ext cx="468953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ポリシー・監査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67525" y="3057525"/>
            <a:ext cx="4689539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利用ポリシー適用 監査ログ・利用状況レポート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963400" y="1962150"/>
            <a:ext cx="5181600" cy="2021086"/>
          </a:xfrm>
          <a:prstGeom prst="roundRect">
            <a:avLst>
              <a:gd name="adj" fmla="val 7541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77725" y="2238375"/>
            <a:ext cx="46895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277725" y="2581275"/>
            <a:ext cx="468953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コネクタ・展開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277725" y="3057525"/>
            <a:ext cx="4689539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データソース接続管理 段階的ロールアウト制御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43000" y="4707136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段階的ロールアウトの例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43000" y="5183386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EBF3FE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22" y="562540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WEEK 1-2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83922" y="5949255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IT部門 10名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3922" y="6379666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OU: IT-Pilot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05375" y="5183386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48275" y="5183386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D2E3FC"/>
          </a:solidFill>
          <a:ln/>
        </p:spPr>
      </p:sp>
      <p:sp>
        <p:nvSpPr>
          <p:cNvPr id="23" name="Text 21"/>
          <p:cNvSpPr/>
          <p:nvPr/>
        </p:nvSpPr>
        <p:spPr>
          <a:xfrm>
            <a:off x="5389197" y="562540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WEEK 3-4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89197" y="5949255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 30名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89197" y="6379666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OU: Sales-Pilot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10650" y="5183386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53550" y="5183386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A9C9FB"/>
          </a:solidFill>
          <a:ln/>
        </p:spPr>
      </p:sp>
      <p:sp>
        <p:nvSpPr>
          <p:cNvPr id="28" name="Text 26"/>
          <p:cNvSpPr/>
          <p:nvPr/>
        </p:nvSpPr>
        <p:spPr>
          <a:xfrm>
            <a:off x="9494472" y="562540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2-3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94472" y="5949255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100名展開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94472" y="6379666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OU: Phase2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3115925" y="5183386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458825" y="5183386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4285F4"/>
          </a:solidFill>
          <a:ln/>
        </p:spPr>
      </p:sp>
      <p:sp>
        <p:nvSpPr>
          <p:cNvPr id="33" name="Text 31"/>
          <p:cNvSpPr/>
          <p:nvPr/>
        </p:nvSpPr>
        <p:spPr>
          <a:xfrm>
            <a:off x="13599747" y="562540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4-6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3599747" y="5949255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599747" y="6379666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OU: All-Users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644167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競合比較：vs Microsoft 365 Copilot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763" y="1966912"/>
            <a:ext cx="2676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7788" y="2128838"/>
            <a:ext cx="23567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比較項目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3824288" y="1966912"/>
            <a:ext cx="5941963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5183" y="2128838"/>
            <a:ext cx="57201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Enterprise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766250" y="1966912"/>
            <a:ext cx="7373987" cy="619125"/>
          </a:xfrm>
          <a:prstGeom prst="rect">
            <a:avLst/>
          </a:prstGeom>
          <a:solidFill>
            <a:srgbClr val="5F6368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5666" y="2128838"/>
            <a:ext cx="71951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365 Copilot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7763" y="2586038"/>
            <a:ext cx="26765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7788" y="2728913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最低価格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24288" y="2586038"/>
            <a:ext cx="5941963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5183" y="2728913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$21/user/月〜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766250" y="2586038"/>
            <a:ext cx="7373987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55666" y="2728913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$30/user/月（固定）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47763" y="3138488"/>
            <a:ext cx="26765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7788" y="3281363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エディション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24288" y="3138488"/>
            <a:ext cx="5941963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5183" y="3281363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Business / Standard / Plus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766250" y="3138488"/>
            <a:ext cx="7373987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5666" y="3281363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1プランのみ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47763" y="3690937"/>
            <a:ext cx="26765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7788" y="3833812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外部連携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824288" y="3690937"/>
            <a:ext cx="5941963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5183" y="3833812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16+コネクタ標準搭載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766250" y="3690937"/>
            <a:ext cx="7373987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55666" y="3833812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SharePoint中心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47763" y="4243388"/>
            <a:ext cx="26765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7788" y="4386263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824288" y="4243388"/>
            <a:ext cx="5941963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5183" y="4386263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Designer（ノーコード）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766250" y="4243388"/>
            <a:ext cx="7373987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55666" y="4386263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 Studio（Power Platform依存）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47763" y="4795838"/>
            <a:ext cx="26765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47788" y="4938713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ナレッジ基盤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824288" y="4795838"/>
            <a:ext cx="5941963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5183" y="4938713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NotebookLM Enterprise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766250" y="4795838"/>
            <a:ext cx="7373987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55666" y="4938713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147763" y="5348288"/>
            <a:ext cx="26765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47788" y="5491163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導入前提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824288" y="5348288"/>
            <a:ext cx="5941963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5183" y="5491163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Workspace契約のみ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766250" y="5348288"/>
            <a:ext cx="7373987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55666" y="5491163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SharePoint環境整備が必要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147763" y="5900738"/>
            <a:ext cx="26765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47788" y="6043613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CMEK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824288" y="5900738"/>
            <a:ext cx="5941963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5183" y="6043613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9766250" y="5900738"/>
            <a:ext cx="7373987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55666" y="6043613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△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1147763" y="6453188"/>
            <a:ext cx="26765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47788" y="6596063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VPC-SC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3824288" y="6453188"/>
            <a:ext cx="5941963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5183" y="6596063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9766250" y="6453188"/>
            <a:ext cx="7373987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55666" y="6596063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147763" y="7005638"/>
            <a:ext cx="26765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47788" y="7148513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ISO 42001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3824288" y="7005638"/>
            <a:ext cx="5941963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35183" y="7148513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766250" y="7005638"/>
            <a:ext cx="7373987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55666" y="7148513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147763" y="7558088"/>
            <a:ext cx="267652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47788" y="7700963"/>
            <a:ext cx="2356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データリージョン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3824288" y="7558088"/>
            <a:ext cx="5941963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35183" y="7700963"/>
            <a:ext cx="5720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日本指定可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766250" y="7558088"/>
            <a:ext cx="7373987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55666" y="7700963"/>
            <a:ext cx="7195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一部制約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1143000" y="8724900"/>
            <a:ext cx="5232350" cy="914400"/>
          </a:xfrm>
          <a:prstGeom prst="roundRect">
            <a:avLst>
              <a:gd name="adj" fmla="val 10417"/>
            </a:avLst>
          </a:prstGeom>
          <a:solidFill>
            <a:srgbClr val="4285F4"/>
          </a:solidFill>
          <a:ln/>
        </p:spPr>
      </p:sp>
      <p:sp>
        <p:nvSpPr>
          <p:cNvPr id="71" name="Text 69"/>
          <p:cNvSpPr/>
          <p:nvPr/>
        </p:nvSpPr>
        <p:spPr>
          <a:xfrm>
            <a:off x="1352550" y="8896350"/>
            <a:ext cx="49576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352550" y="9163050"/>
            <a:ext cx="4957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導入リードタイム短縮</a:t>
            </a:r>
            <a:endParaRPr lang="en-US" sz="1650" dirty="0"/>
          </a:p>
        </p:txBody>
      </p:sp>
      <p:sp>
        <p:nvSpPr>
          <p:cNvPr id="73" name="Shape 71"/>
          <p:cNvSpPr/>
          <p:nvPr/>
        </p:nvSpPr>
        <p:spPr>
          <a:xfrm>
            <a:off x="6527750" y="8724900"/>
            <a:ext cx="5232499" cy="914400"/>
          </a:xfrm>
          <a:prstGeom prst="roundRect">
            <a:avLst>
              <a:gd name="adj" fmla="val 10417"/>
            </a:avLst>
          </a:prstGeom>
          <a:solidFill>
            <a:srgbClr val="4285F4"/>
          </a:solidFill>
          <a:ln/>
        </p:spPr>
      </p:sp>
      <p:sp>
        <p:nvSpPr>
          <p:cNvPr id="74" name="Text 72"/>
          <p:cNvSpPr/>
          <p:nvPr/>
        </p:nvSpPr>
        <p:spPr>
          <a:xfrm>
            <a:off x="6737300" y="8896350"/>
            <a:ext cx="49578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737300" y="9163050"/>
            <a:ext cx="49578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影響範囲の制御容易</a:t>
            </a:r>
            <a:endParaRPr lang="en-US" sz="1650" dirty="0"/>
          </a:p>
        </p:txBody>
      </p:sp>
      <p:sp>
        <p:nvSpPr>
          <p:cNvPr id="76" name="Shape 74"/>
          <p:cNvSpPr/>
          <p:nvPr/>
        </p:nvSpPr>
        <p:spPr>
          <a:xfrm>
            <a:off x="11912650" y="8724900"/>
            <a:ext cx="5232350" cy="914400"/>
          </a:xfrm>
          <a:prstGeom prst="roundRect">
            <a:avLst>
              <a:gd name="adj" fmla="val 10417"/>
            </a:avLst>
          </a:prstGeom>
          <a:solidFill>
            <a:srgbClr val="4285F4"/>
          </a:solidFill>
          <a:ln/>
        </p:spPr>
      </p:sp>
      <p:sp>
        <p:nvSpPr>
          <p:cNvPr id="77" name="Text 75"/>
          <p:cNvSpPr/>
          <p:nvPr/>
        </p:nvSpPr>
        <p:spPr>
          <a:xfrm>
            <a:off x="12122200" y="8896350"/>
            <a:ext cx="49576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2122200" y="9163050"/>
            <a:ext cx="49576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部門別コスト最適化</a:t>
            </a:r>
            <a:endParaRPr lang="en-US" sz="1650" dirty="0"/>
          </a:p>
        </p:txBody>
      </p:sp>
      <p:sp>
        <p:nvSpPr>
          <p:cNvPr id="79" name="Text 77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4014788"/>
            <a:ext cx="16089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FFFFFF">
                    <a:alpha val="6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333500" y="4800600"/>
            <a:ext cx="1371600" cy="1371600"/>
          </a:xfrm>
          <a:prstGeom prst="roundRect">
            <a:avLst>
              <a:gd name="adj" fmla="val 5556"/>
            </a:avLst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4450" y="4819650"/>
            <a:ext cx="14097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162300" y="4700588"/>
            <a:ext cx="979036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54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当社の構築・導入支援サービス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162300" y="5891213"/>
            <a:ext cx="97903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5フェーズ支援フレームワーク・エージェント開発事例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466209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当社の支援サービス全体像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962150"/>
            <a:ext cx="2865090" cy="1885950"/>
          </a:xfrm>
          <a:prstGeom prst="roundRect">
            <a:avLst>
              <a:gd name="adj" fmla="val 5051"/>
            </a:avLst>
          </a:prstGeom>
          <a:solidFill>
            <a:srgbClr val="EBF3F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255639"/>
            <a:ext cx="2560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95400" y="2579489"/>
            <a:ext cx="256029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アセスメント 要件定義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3306961"/>
            <a:ext cx="2560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2〜3週間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84290" y="1962150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27190" y="1962150"/>
            <a:ext cx="2865239" cy="1885950"/>
          </a:xfrm>
          <a:prstGeom prst="roundRect">
            <a:avLst>
              <a:gd name="adj" fmla="val 5051"/>
            </a:avLst>
          </a:prstGeom>
          <a:solidFill>
            <a:srgbClr val="D2E3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9590" y="2255639"/>
            <a:ext cx="25604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9590" y="2579489"/>
            <a:ext cx="2560439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 初期設定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9590" y="3306961"/>
            <a:ext cx="25604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2〜3週間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68629" y="1962150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39902" y="1915001"/>
            <a:ext cx="3008344" cy="1980248"/>
          </a:xfrm>
          <a:prstGeom prst="roundRect">
            <a:avLst>
              <a:gd name="adj" fmla="val 4810"/>
            </a:avLst>
          </a:prstGeom>
          <a:solidFill>
            <a:srgbClr val="4285F4"/>
          </a:solidFill>
          <a:ln/>
          <a:effectLst>
            <a:outerShdw sx="100000" sy="100000" kx="0" ky="0" algn="bl" rotWithShape="0" blurRad="304800" dist="114300" dir="5400000">
              <a:srgbClr val="4285F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00803" y="2223165"/>
            <a:ext cx="2686543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3 ★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00803" y="2563207"/>
            <a:ext cx="2686543" cy="66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 設計・開発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00803" y="3327053"/>
            <a:ext cx="2686543" cy="298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3〜6週間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652820" y="1962150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995720" y="1962150"/>
            <a:ext cx="2865090" cy="1885950"/>
          </a:xfrm>
          <a:prstGeom prst="roundRect">
            <a:avLst>
              <a:gd name="adj" fmla="val 5051"/>
            </a:avLst>
          </a:prstGeom>
          <a:solidFill>
            <a:srgbClr val="D2E3FC"/>
          </a:solidFill>
          <a:ln/>
        </p:spPr>
      </p:sp>
      <p:sp>
        <p:nvSpPr>
          <p:cNvPr id="20" name="Text 18"/>
          <p:cNvSpPr/>
          <p:nvPr/>
        </p:nvSpPr>
        <p:spPr>
          <a:xfrm>
            <a:off x="11148120" y="2255639"/>
            <a:ext cx="2560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148120" y="2579489"/>
            <a:ext cx="256029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パイロット 導入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48120" y="3306961"/>
            <a:ext cx="2560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3〜4週間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937010" y="1962150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279910" y="1962150"/>
            <a:ext cx="2865090" cy="1885950"/>
          </a:xfrm>
          <a:prstGeom prst="roundRect">
            <a:avLst>
              <a:gd name="adj" fmla="val 5051"/>
            </a:avLst>
          </a:prstGeom>
          <a:solidFill>
            <a:srgbClr val="EBF3FE"/>
          </a:solidFill>
          <a:ln/>
        </p:spPr>
      </p:sp>
      <p:sp>
        <p:nvSpPr>
          <p:cNvPr id="25" name="Text 23"/>
          <p:cNvSpPr/>
          <p:nvPr/>
        </p:nvSpPr>
        <p:spPr>
          <a:xfrm>
            <a:off x="14432310" y="2255639"/>
            <a:ext cx="2560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432310" y="2579489"/>
            <a:ext cx="256029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 運用改善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432310" y="3306961"/>
            <a:ext cx="2560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継続支援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3000" y="46101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当社が提供する価値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43000" y="5105400"/>
            <a:ext cx="2750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A85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75184" y="5105400"/>
            <a:ext cx="446542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Cloud パートナー認定の技術力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239250" y="5105400"/>
            <a:ext cx="2750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A85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571434" y="5105400"/>
            <a:ext cx="484007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Workspace〜AI活用までワンストップ対応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43000" y="5653980"/>
            <a:ext cx="2750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A85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475184" y="5653980"/>
            <a:ext cx="442066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中堅企業（100〜999名）への導入知見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239250" y="5653980"/>
            <a:ext cx="2750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A85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571434" y="5653980"/>
            <a:ext cx="433635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定着化・効果測定・改善まで伴走支援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4438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1004887"/>
            <a:ext cx="593473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1: アセスメント・要件定義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713125" y="952500"/>
            <a:ext cx="1431875" cy="581025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51250" y="1076325"/>
            <a:ext cx="10318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2〜3週間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7763" y="2071688"/>
            <a:ext cx="3057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7788" y="22336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205288" y="2071688"/>
            <a:ext cx="98774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5313" y="2233613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4082713" y="2071688"/>
            <a:ext cx="3057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82738" y="22336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47763" y="26908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7788" y="28336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現状業務ヒアリング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205288" y="2690813"/>
            <a:ext cx="98774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5313" y="2833688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主要部門の業務フロー・課題をヒアリング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4082713" y="26908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82738" y="28336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業務フロー図・課題一覧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47763" y="327183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7788" y="34147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AI活用候補の洗い出し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205288" y="3271838"/>
            <a:ext cx="98774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5313" y="3414713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AI解決可能性を評価し優先順位付け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4082713" y="327183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282738" y="34147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AI活用候補リスト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47763" y="385286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7788" y="399573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既存システム調査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4205288" y="3852863"/>
            <a:ext cx="98774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5313" y="3995738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SaaS・基幹系の連携可否を調査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4082713" y="385286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282738" y="399573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システム連携マッピング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47763" y="443388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7788" y="457676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セキュリティ要件確認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4205288" y="4433888"/>
            <a:ext cx="98774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5313" y="4576763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データ分類・アクセス制御・準拠法整理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4082713" y="443388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282738" y="457676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セキュリティ要件定義書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7763" y="50149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47788" y="51577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エディション選定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4205288" y="5014913"/>
            <a:ext cx="98774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5313" y="5157788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機能・予算・規模に基づくライセンス設計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4082713" y="50149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282738" y="51577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ライセンス設計書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143000" y="6134100"/>
            <a:ext cx="16002000" cy="904875"/>
          </a:xfrm>
          <a:prstGeom prst="roundRect">
            <a:avLst>
              <a:gd name="adj" fmla="val 10526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47800" y="6362700"/>
            <a:ext cx="1314450" cy="4476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CEEA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28775" y="6448425"/>
            <a:ext cx="1028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最終成果物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952750" y="6410325"/>
            <a:ext cx="53388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導入計画書（スケジュール・体制・予算含む）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4438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1004887"/>
            <a:ext cx="516566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2: 環境構築・初期設定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713125" y="952500"/>
            <a:ext cx="1431875" cy="581025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51250" y="1076325"/>
            <a:ext cx="10318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2〜3週間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7763" y="2071688"/>
            <a:ext cx="3057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7788" y="22336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205288" y="2071688"/>
            <a:ext cx="98774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5313" y="2233613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4082713" y="2071688"/>
            <a:ext cx="3057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82738" y="22336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47763" y="26908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7788" y="28336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テナント設定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205288" y="2690813"/>
            <a:ext cx="98774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5313" y="2833688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Enterpriseテナント構築・基本設定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4082713" y="26908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82738" y="28336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環境構築完了報告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47763" y="327183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7788" y="34147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OU設計・適用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205288" y="3271838"/>
            <a:ext cx="98774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5313" y="3414713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段階展開に対応した組織単位設計と割当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4082713" y="327183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282738" y="34147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OU設計図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47763" y="385286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7788" y="399573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セキュリティポリシー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4205288" y="3852863"/>
            <a:ext cx="98774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5313" y="3995738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CMEK / VPC-SC / DLP ルールの適用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4082713" y="385286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282738" y="399573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セキュリティ設定書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47763" y="443388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7788" y="457676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コネクタ設定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4205288" y="4433888"/>
            <a:ext cx="98774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5313" y="4576763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データソース接続設定・初期同期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4082713" y="443388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282738" y="457676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コネクタ接続確認書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7763" y="50149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47788" y="51577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管理者トレーニング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4205288" y="5014913"/>
            <a:ext cx="98774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5313" y="5157788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Admin Console操作・監査・運用研修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4082713" y="50149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282738" y="51577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管理者マニュアル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143000" y="6134100"/>
            <a:ext cx="16002000" cy="904875"/>
          </a:xfrm>
          <a:prstGeom prst="roundRect">
            <a:avLst>
              <a:gd name="adj" fmla="val 10526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47800" y="6362700"/>
            <a:ext cx="1314450" cy="4476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CEEA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28775" y="6448425"/>
            <a:ext cx="1028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最終成果物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952750" y="6410325"/>
            <a:ext cx="45951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環境構築報告書 + 管理者運用マニュアル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4438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1004887"/>
            <a:ext cx="593473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3: エージェント設計・開発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289584" y="952500"/>
            <a:ext cx="2855416" cy="58102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27709" y="1076325"/>
            <a:ext cx="24648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3〜6週間 ★当社の強み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7763" y="2071688"/>
            <a:ext cx="3057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7788" y="22336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205288" y="2071688"/>
            <a:ext cx="98774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5313" y="2233613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4082713" y="2071688"/>
            <a:ext cx="305752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82738" y="22336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47763" y="26908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7788" y="28336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業務プロセス分析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205288" y="2690813"/>
            <a:ext cx="98774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5313" y="2833688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優先業務の詳細フロー分析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4082713" y="26908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82738" y="28336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エージェント要件定義書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47763" y="327183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7788" y="34147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エージェント設計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205288" y="3271838"/>
            <a:ext cx="98774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5313" y="3414713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入出力・データソース・例外処理の設計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4082713" y="327183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282738" y="341471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エージェント設計書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47763" y="385286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7788" y="399573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プロトタイプ構築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4205288" y="3852863"/>
            <a:ext cx="98774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5313" y="3995738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Designerでの実装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4082713" y="385286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282738" y="399573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プロトタイプ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47763" y="443388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7788" y="457676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外部システム連携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4205288" y="4433888"/>
            <a:ext cx="98774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5313" y="4576763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API連携・カスタムコネクタ開発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4082713" y="4433888"/>
            <a:ext cx="3057525" cy="581025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282738" y="4576763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連携仕様書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7763" y="50149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47788" y="51577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テスト・チューニング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4205288" y="5014913"/>
            <a:ext cx="98774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5313" y="5157788"/>
            <a:ext cx="97736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精度検証・応答品質調整・負荷テスト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4082713" y="5014913"/>
            <a:ext cx="3057525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282738" y="5157788"/>
            <a:ext cx="27492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テスト報告書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143000" y="6134100"/>
            <a:ext cx="16002000" cy="904875"/>
          </a:xfrm>
          <a:prstGeom prst="roundRect">
            <a:avLst>
              <a:gd name="adj" fmla="val 10526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47800" y="6362700"/>
            <a:ext cx="1314450" cy="4476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CEEA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28775" y="6448425"/>
            <a:ext cx="1028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最終成果物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952750" y="6410325"/>
            <a:ext cx="61280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本番稼働可能なエージェント + 設計ドキュメント一式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4438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1004887"/>
            <a:ext cx="633115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4: パイロット導入・利用促進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279166" y="952500"/>
            <a:ext cx="2865834" cy="581025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17291" y="1076325"/>
            <a:ext cx="24755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3〜4週間（10名POC）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066925"/>
            <a:ext cx="69224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実施ステップ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43000" y="2505075"/>
            <a:ext cx="342900" cy="3429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250507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19250" y="2505075"/>
            <a:ext cx="25527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パイロット部門の選定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3034605"/>
            <a:ext cx="342900" cy="3429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303460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19250" y="3034605"/>
            <a:ext cx="462285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10名POCの集中利用と日次モニタリング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3564136"/>
            <a:ext cx="342900" cy="3429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3564136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19250" y="3564136"/>
            <a:ext cx="433129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部門・役職別ハンズオントレーニング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093666"/>
            <a:ext cx="342900" cy="3429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4093666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19250" y="4093666"/>
            <a:ext cx="331603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活用事例・利用者の声を収集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4623197"/>
            <a:ext cx="342900" cy="3429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" y="46231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19250" y="4623197"/>
            <a:ext cx="269673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KPIの定量化と効果測定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320980" y="2066925"/>
            <a:ext cx="90887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効果測定テンプレート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325743" y="2509838"/>
            <a:ext cx="358199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25768" y="2671763"/>
            <a:ext cx="32894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測定項目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907738" y="2509838"/>
            <a:ext cx="1844129" cy="619125"/>
          </a:xfrm>
          <a:prstGeom prst="rect">
            <a:avLst/>
          </a:prstGeom>
          <a:solidFill>
            <a:srgbClr val="B7590B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107763" y="2671763"/>
            <a:ext cx="15202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751868" y="2509838"/>
            <a:ext cx="1628477" cy="619125"/>
          </a:xfrm>
          <a:prstGeom prst="rect">
            <a:avLst/>
          </a:prstGeom>
          <a:solidFill>
            <a:srgbClr val="34A853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51893" y="2671763"/>
            <a:ext cx="13046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380345" y="2509838"/>
            <a:ext cx="1759893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80370" y="2671763"/>
            <a:ext cx="14360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改善率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325743" y="3128963"/>
            <a:ext cx="358199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25768" y="3271838"/>
            <a:ext cx="3289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情報検索時間 / 日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1907738" y="3128963"/>
            <a:ext cx="1844129" cy="552450"/>
          </a:xfrm>
          <a:prstGeom prst="rect">
            <a:avLst/>
          </a:prstGeom>
          <a:solidFill>
            <a:srgbClr val="FEF7E0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069663" y="3271838"/>
            <a:ext cx="15202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___ 分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3751868" y="3128963"/>
            <a:ext cx="1628477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913793" y="3271838"/>
            <a:ext cx="13046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___ 分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5380345" y="3128963"/>
            <a:ext cx="1759893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2270" y="3271838"/>
            <a:ext cx="14360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__%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325743" y="3681413"/>
            <a:ext cx="358199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25768" y="3824288"/>
            <a:ext cx="3289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文書作成時間 / 件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1907738" y="3681413"/>
            <a:ext cx="1844129" cy="552450"/>
          </a:xfrm>
          <a:prstGeom prst="rect">
            <a:avLst/>
          </a:prstGeom>
          <a:solidFill>
            <a:srgbClr val="FEF7E0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069663" y="3824288"/>
            <a:ext cx="15202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___ 分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3751868" y="3681413"/>
            <a:ext cx="1628477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913793" y="3824288"/>
            <a:ext cx="13046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___ 分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5380345" y="3681413"/>
            <a:ext cx="1759893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542270" y="3824288"/>
            <a:ext cx="14360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__%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325743" y="4233863"/>
            <a:ext cx="358199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25768" y="4376738"/>
            <a:ext cx="3289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問い合わせ対応 / 件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1907738" y="4233863"/>
            <a:ext cx="1844129" cy="552450"/>
          </a:xfrm>
          <a:prstGeom prst="rect">
            <a:avLst/>
          </a:prstGeom>
          <a:solidFill>
            <a:srgbClr val="FEF7E0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069663" y="4376738"/>
            <a:ext cx="15202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___ 分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3751868" y="4233863"/>
            <a:ext cx="1628477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913793" y="4376738"/>
            <a:ext cx="13046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___ 分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5380345" y="4233863"/>
            <a:ext cx="1759893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542270" y="4376738"/>
            <a:ext cx="14360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__%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8325743" y="4786313"/>
            <a:ext cx="358199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25768" y="4929188"/>
            <a:ext cx="3289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利用者満足度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11907738" y="4786313"/>
            <a:ext cx="1844129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069663" y="4929188"/>
            <a:ext cx="15202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3751868" y="4786313"/>
            <a:ext cx="1628477" cy="55245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913793" y="4929188"/>
            <a:ext cx="13046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__/5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15380345" y="4786313"/>
            <a:ext cx="1759893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542270" y="4929188"/>
            <a:ext cx="14360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1143000" y="8505825"/>
            <a:ext cx="16002000" cy="828675"/>
          </a:xfrm>
          <a:prstGeom prst="roundRect">
            <a:avLst>
              <a:gd name="adj" fmla="val 11494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47800" y="8696325"/>
            <a:ext cx="1314450" cy="4476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CEEA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28775" y="8782050"/>
            <a:ext cx="1028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最終成果物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2952750" y="8753475"/>
            <a:ext cx="710175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POCレポート（定量効果 + 利用者フィードバック + 展開推奨事項）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4438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1004887"/>
            <a:ext cx="516566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5: 全社展開・運用改善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754350" y="952500"/>
            <a:ext cx="1390650" cy="581025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92475" y="1076325"/>
            <a:ext cx="990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継続支援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066925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段階的ロールアウト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43000" y="2562225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EBF3FE"/>
          </a:solidFill>
          <a:ln/>
        </p:spPr>
      </p:sp>
      <p:sp>
        <p:nvSpPr>
          <p:cNvPr id="8" name="Text 6"/>
          <p:cNvSpPr/>
          <p:nvPr/>
        </p:nvSpPr>
        <p:spPr>
          <a:xfrm>
            <a:off x="1283922" y="300424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1-2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3922" y="3328095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POC完了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3922" y="375850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10名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05375" y="2562225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48275" y="2562225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D2E3FC"/>
          </a:solidFill>
          <a:ln/>
        </p:spPr>
      </p:sp>
      <p:sp>
        <p:nvSpPr>
          <p:cNvPr id="13" name="Text 11"/>
          <p:cNvSpPr/>
          <p:nvPr/>
        </p:nvSpPr>
        <p:spPr>
          <a:xfrm>
            <a:off x="5389197" y="300424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89197" y="3328095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89197" y="375850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30名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010650" y="2562225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353550" y="2562225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A9C9FB"/>
          </a:solidFill>
          <a:ln/>
        </p:spPr>
      </p:sp>
      <p:sp>
        <p:nvSpPr>
          <p:cNvPr id="18" name="Text 16"/>
          <p:cNvSpPr/>
          <p:nvPr/>
        </p:nvSpPr>
        <p:spPr>
          <a:xfrm>
            <a:off x="9494472" y="300424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4-5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494472" y="3328095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94472" y="375850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100名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115925" y="2562225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3458825" y="2562225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4285F4"/>
          </a:solidFill>
          <a:ln/>
        </p:spPr>
      </p:sp>
      <p:sp>
        <p:nvSpPr>
          <p:cNvPr id="23" name="Text 21"/>
          <p:cNvSpPr/>
          <p:nvPr/>
        </p:nvSpPr>
        <p:spPr>
          <a:xfrm>
            <a:off x="13599747" y="300424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6〜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599747" y="3328095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599747" y="3758505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継続改善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3000" y="5057775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継続支援の内容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143000" y="5534025"/>
            <a:ext cx="3078361" cy="1601986"/>
          </a:xfrm>
          <a:prstGeom prst="roundRect">
            <a:avLst>
              <a:gd name="adj" fmla="val 9513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57325" y="5810250"/>
            <a:ext cx="25259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利用データ分析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457325" y="6210300"/>
            <a:ext cx="2525911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月次の利用状況・KPIダッシュボード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4373761" y="5534025"/>
            <a:ext cx="3078510" cy="1601986"/>
          </a:xfrm>
          <a:prstGeom prst="roundRect">
            <a:avLst>
              <a:gd name="adj" fmla="val 9513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8086" y="5810250"/>
            <a:ext cx="2526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エージェント追加開発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688086" y="6210300"/>
            <a:ext cx="252606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新たな業務ニーズに応じた追加・改修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7604671" y="5534025"/>
            <a:ext cx="3078510" cy="1601986"/>
          </a:xfrm>
          <a:prstGeom prst="roundRect">
            <a:avLst>
              <a:gd name="adj" fmla="val 9513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18996" y="5810250"/>
            <a:ext cx="2526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改善提案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918996" y="6210300"/>
            <a:ext cx="252606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利用パターン分析による最適化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0835580" y="5534025"/>
            <a:ext cx="3078510" cy="1601986"/>
          </a:xfrm>
          <a:prstGeom prst="roundRect">
            <a:avLst>
              <a:gd name="adj" fmla="val 9513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49905" y="5810250"/>
            <a:ext cx="2526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定期レビュー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1149905" y="6210300"/>
            <a:ext cx="252606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月次／四半期の振り返りMTG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4066490" y="5534025"/>
            <a:ext cx="3078510" cy="1601986"/>
          </a:xfrm>
          <a:prstGeom prst="roundRect">
            <a:avLst>
              <a:gd name="adj" fmla="val 9513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380815" y="5810250"/>
            <a:ext cx="2526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新機能キャッチアップ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4380815" y="6210300"/>
            <a:ext cx="252606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Googleアップデートの共有・適用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488973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導入ロードマップ（6ヶ月）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962150"/>
            <a:ext cx="16002000" cy="6591300"/>
          </a:xfrm>
          <a:prstGeom prst="roundRect">
            <a:avLst>
              <a:gd name="adj" fmla="val 1734"/>
            </a:avLst>
          </a:prstGeom>
          <a:solidFill>
            <a:srgbClr val="F8F9FA"/>
          </a:solidFill>
          <a:ln/>
        </p:spPr>
      </p:sp>
      <p:sp>
        <p:nvSpPr>
          <p:cNvPr id="5" name="Text 3"/>
          <p:cNvSpPr/>
          <p:nvPr/>
        </p:nvSpPr>
        <p:spPr>
          <a:xfrm>
            <a:off x="3162300" y="2266950"/>
            <a:ext cx="231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41900" y="2266950"/>
            <a:ext cx="231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21501" y="2266950"/>
            <a:ext cx="231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01101" y="2266950"/>
            <a:ext cx="23178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280850" y="2266950"/>
            <a:ext cx="231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560451" y="2266950"/>
            <a:ext cx="231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Month 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47800" y="2786063"/>
            <a:ext cx="1790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 アセス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2714625"/>
            <a:ext cx="2241500" cy="419100"/>
          </a:xfrm>
          <a:prstGeom prst="roundRect">
            <a:avLst>
              <a:gd name="adj" fmla="val 13636"/>
            </a:avLst>
          </a:prstGeom>
          <a:solidFill>
            <a:srgbClr val="EBF3FE"/>
          </a:solidFill>
          <a:ln/>
        </p:spPr>
      </p:sp>
      <p:sp>
        <p:nvSpPr>
          <p:cNvPr id="13" name="Text 11"/>
          <p:cNvSpPr/>
          <p:nvPr/>
        </p:nvSpPr>
        <p:spPr>
          <a:xfrm>
            <a:off x="3219450" y="2714625"/>
            <a:ext cx="212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▲要件確定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47800" y="3319463"/>
            <a:ext cx="1790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 環境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3248025"/>
            <a:ext cx="2241500" cy="419100"/>
          </a:xfrm>
          <a:prstGeom prst="roundRect">
            <a:avLst>
              <a:gd name="adj" fmla="val 13636"/>
            </a:avLst>
          </a:prstGeom>
          <a:solidFill>
            <a:srgbClr val="D2E3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0000" y="3248025"/>
            <a:ext cx="2241500" cy="419100"/>
          </a:xfrm>
          <a:prstGeom prst="rect">
            <a:avLst/>
          </a:prstGeom>
          <a:solidFill>
            <a:srgbClr val="D2E3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99050" y="3248025"/>
            <a:ext cx="212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▲Ready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47800" y="3852863"/>
            <a:ext cx="1790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3 開発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0000" y="3781425"/>
            <a:ext cx="2241500" cy="419100"/>
          </a:xfrm>
          <a:prstGeom prst="roundRect">
            <a:avLst>
              <a:gd name="adj" fmla="val 13636"/>
            </a:avLst>
          </a:prstGeom>
          <a:solidFill>
            <a:srgbClr val="4285F4"/>
          </a:solidFill>
          <a:ln/>
        </p:spPr>
      </p:sp>
      <p:sp>
        <p:nvSpPr>
          <p:cNvPr id="20" name="Shape 18"/>
          <p:cNvSpPr/>
          <p:nvPr/>
        </p:nvSpPr>
        <p:spPr>
          <a:xfrm>
            <a:off x="7759601" y="3781425"/>
            <a:ext cx="2241500" cy="4191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8651" y="3781425"/>
            <a:ext cx="212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▲v1完成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47800" y="4386263"/>
            <a:ext cx="1790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4 POC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59601" y="4314825"/>
            <a:ext cx="2241500" cy="419100"/>
          </a:xfrm>
          <a:prstGeom prst="roundRect">
            <a:avLst>
              <a:gd name="adj" fmla="val 13636"/>
            </a:avLst>
          </a:prstGeom>
          <a:solidFill>
            <a:srgbClr val="34A85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39201" y="4314825"/>
            <a:ext cx="2241649" cy="4191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251" y="4314825"/>
            <a:ext cx="212734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▲効果報告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47800" y="4919663"/>
            <a:ext cx="1790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5 展開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039201" y="4848225"/>
            <a:ext cx="2241649" cy="419100"/>
          </a:xfrm>
          <a:prstGeom prst="roundRect">
            <a:avLst>
              <a:gd name="adj" fmla="val 13636"/>
            </a:avLst>
          </a:prstGeom>
          <a:solidFill>
            <a:srgbClr val="F97316"/>
          </a:solidFill>
          <a:ln/>
        </p:spPr>
      </p:sp>
      <p:sp>
        <p:nvSpPr>
          <p:cNvPr id="28" name="Shape 26"/>
          <p:cNvSpPr/>
          <p:nvPr/>
        </p:nvSpPr>
        <p:spPr>
          <a:xfrm>
            <a:off x="12318950" y="4848225"/>
            <a:ext cx="2241500" cy="4191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Shape 27"/>
          <p:cNvSpPr/>
          <p:nvPr/>
        </p:nvSpPr>
        <p:spPr>
          <a:xfrm>
            <a:off x="14598551" y="4848225"/>
            <a:ext cx="2241500" cy="4191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14617601" y="4848225"/>
            <a:ext cx="2127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▲全社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6367" y="9086850"/>
            <a:ext cx="32021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</a:t>
            </a:r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要件確定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319535" y="9086850"/>
            <a:ext cx="3202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</a:t>
            </a:r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環境Ready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542857" y="9086850"/>
            <a:ext cx="32021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</a:t>
            </a:r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 v1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766026" y="9086850"/>
            <a:ext cx="3202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A85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</a:t>
            </a:r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POC効果報告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3989345" y="9086850"/>
            <a:ext cx="3202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</a:t>
            </a:r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543132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支援体制・コミュニケーション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1962150"/>
            <a:ext cx="92299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体制図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2419350"/>
            <a:ext cx="4137571" cy="3382268"/>
          </a:xfrm>
          <a:prstGeom prst="roundRect">
            <a:avLst>
              <a:gd name="adj" fmla="val 3379"/>
            </a:avLst>
          </a:prstGeom>
          <a:solidFill>
            <a:srgbClr val="F8F9FA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647950"/>
            <a:ext cx="379078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165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お客様側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71600" y="3086993"/>
            <a:ext cx="3680371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504950" y="3182243"/>
            <a:ext cx="352408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highlight>
                  <a:srgbClr val="FFFFFF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プロジェクトオーナー </a:t>
            </a:r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情シス責任者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3944243"/>
            <a:ext cx="3680371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04950" y="4039493"/>
            <a:ext cx="35240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IT管理者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525268"/>
            <a:ext cx="3680371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4950" y="4620518"/>
            <a:ext cx="35240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各部門キーユーザー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71071" y="2419350"/>
            <a:ext cx="381000" cy="3420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⇄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966371" y="2419350"/>
            <a:ext cx="4137720" cy="3382268"/>
          </a:xfrm>
          <a:prstGeom prst="roundRect">
            <a:avLst>
              <a:gd name="adj" fmla="val 3379"/>
            </a:avLst>
          </a:prstGeom>
          <a:solidFill>
            <a:srgbClr val="EBF3FE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4971" y="2647950"/>
            <a:ext cx="379093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165" kern="0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当社側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194971" y="3086993"/>
            <a:ext cx="3680520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28321" y="3182243"/>
            <a:ext cx="35242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94971" y="3668018"/>
            <a:ext cx="3680520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28321" y="3763268"/>
            <a:ext cx="35242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テクニカルリード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94971" y="4249043"/>
            <a:ext cx="368052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28321" y="4344293"/>
            <a:ext cx="352423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highlight>
                  <a:srgbClr val="FFFFFF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エージェント開発 エンジニア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94971" y="5106293"/>
            <a:ext cx="3680520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28321" y="5201543"/>
            <a:ext cx="35242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Cloud連携窓口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485090" y="1962150"/>
            <a:ext cx="68597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コミュニケーション計画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489853" y="2424113"/>
            <a:ext cx="2063204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89878" y="2586038"/>
            <a:ext cx="17393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種別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2553057" y="2424113"/>
            <a:ext cx="124777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753082" y="2586038"/>
            <a:ext cx="9239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頻度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3800832" y="2424113"/>
            <a:ext cx="3339405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000857" y="2586038"/>
            <a:ext cx="30395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内容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0489853" y="3043238"/>
            <a:ext cx="206320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89878" y="3186113"/>
            <a:ext cx="17393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定例MTG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2553057" y="3043238"/>
            <a:ext cx="12477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714982" y="3186113"/>
            <a:ext cx="9239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週次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3800832" y="3043238"/>
            <a:ext cx="333940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000857" y="3186113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進捗・課題・計画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489853" y="3595688"/>
            <a:ext cx="2063204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89878" y="3738562"/>
            <a:ext cx="17393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ステコミ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2553057" y="3595688"/>
            <a:ext cx="124777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714982" y="3738562"/>
            <a:ext cx="9239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3800832" y="3595688"/>
            <a:ext cx="333940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000857" y="3738562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KPI・方針判断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0489853" y="4148137"/>
            <a:ext cx="2063204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89878" y="4291013"/>
            <a:ext cx="17393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技術相談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2553057" y="4148137"/>
            <a:ext cx="12477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714982" y="4291013"/>
            <a:ext cx="9239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随時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3800832" y="4148137"/>
            <a:ext cx="333940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000857" y="4291013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エスカレーション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0489853" y="4700588"/>
            <a:ext cx="2063204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89878" y="4843463"/>
            <a:ext cx="17393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緊急対応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2553057" y="4700588"/>
            <a:ext cx="124777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714982" y="4843463"/>
            <a:ext cx="9239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随時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3800832" y="4700588"/>
            <a:ext cx="3339405" cy="552450"/>
          </a:xfrm>
          <a:prstGeom prst="rect">
            <a:avLst/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000857" y="4843463"/>
            <a:ext cx="30395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SLA準拠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387723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エージェント開発事例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962150"/>
            <a:ext cx="7886700" cy="3571875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7325" y="2238375"/>
            <a:ext cx="30217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57325" y="2524125"/>
            <a:ext cx="302171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社内問い合わせ自動対応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758880" y="2238375"/>
            <a:ext cx="1956495" cy="4476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CEEA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9855" y="2324100"/>
            <a:ext cx="1670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対応時間 75%削減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57325" y="3114675"/>
            <a:ext cx="747579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総務・人事・情シス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57325" y="3553718"/>
            <a:ext cx="747579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接続：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規程（Drive）+ FAQ（Confluence）+ 人事システム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258300" y="1962150"/>
            <a:ext cx="7886700" cy="3571875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72625" y="2238375"/>
            <a:ext cx="3285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72625" y="2524125"/>
            <a:ext cx="32855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技術文書検索アシスタント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4874180" y="2238375"/>
            <a:ext cx="1956495" cy="4476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CEEA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55155" y="2324100"/>
            <a:ext cx="1670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検索時間 80%削減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72625" y="3114675"/>
            <a:ext cx="747579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製造部門・品質管理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572625" y="3553718"/>
            <a:ext cx="747579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接続：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技術文書（SharePoint）+ 品質記録（Drive）+ 規格（NotebookLM）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43000" y="5762625"/>
            <a:ext cx="7886700" cy="3571875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57325" y="6038850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 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57325" y="6324600"/>
            <a:ext cx="27470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受発注ステータス確認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758880" y="6038850"/>
            <a:ext cx="1956495" cy="4476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CEEA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9855" y="6124575"/>
            <a:ext cx="16707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確認時間 85%削減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57325" y="6915150"/>
            <a:ext cx="747579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営業・CS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57325" y="7354193"/>
            <a:ext cx="747579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接続：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受注（Salesforce）+ 在庫（SAP）+ 出荷（Sheets）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258300" y="5762625"/>
            <a:ext cx="7886700" cy="3571875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2625" y="6038850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 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72625" y="6324600"/>
            <a:ext cx="27470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日次レポート自動生成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4140011" y="6038850"/>
            <a:ext cx="2690664" cy="447675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CEEA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20986" y="6124575"/>
            <a:ext cx="24094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完全自動化（60分 → 0分）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572625" y="6915150"/>
            <a:ext cx="747579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経営企画・管理部門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72625" y="7354193"/>
            <a:ext cx="747579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接続：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売上（BigQuery）+ 日報（Drive）+ KPI（Sheets）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42925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133350"/>
            <a:ext cx="180746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25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 | 導入効果・次のステップ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1133475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1866900" y="923925"/>
            <a:ext cx="34070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導入効果・ROI試算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3000" y="1781175"/>
            <a:ext cx="5181600" cy="1809750"/>
          </a:xfrm>
          <a:prstGeom prst="roundRect">
            <a:avLst>
              <a:gd name="adj" fmla="val 8421"/>
            </a:avLst>
          </a:prstGeom>
          <a:solidFill>
            <a:srgbClr val="EBF3FE"/>
          </a:solidFill>
          <a:ln/>
        </p:spPr>
      </p:sp>
      <p:sp>
        <p:nvSpPr>
          <p:cNvPr id="7" name="Text 5"/>
          <p:cNvSpPr/>
          <p:nvPr/>
        </p:nvSpPr>
        <p:spPr>
          <a:xfrm>
            <a:off x="1261491" y="2047875"/>
            <a:ext cx="494461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b="1" spc="-198" kern="0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286</a:t>
            </a:r>
            <a:pPr algn="ctr" indent="0" marL="0">
              <a:lnSpc>
                <a:spcPct val="100000"/>
              </a:lnSpc>
              <a:buNone/>
            </a:pPr>
            <a:r>
              <a:rPr lang="en-US" sz="3750" b="1" spc="-198" kern="0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〜</a:t>
            </a:r>
            <a:pPr algn="ctr" indent="0" marL="0">
              <a:lnSpc>
                <a:spcPct val="100000"/>
              </a:lnSpc>
              <a:buNone/>
            </a:pPr>
            <a:r>
              <a:rPr lang="en-US" sz="6600" b="1" spc="-198" kern="0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476</a:t>
            </a:r>
            <a:pPr algn="ctr" indent="0" marL="0">
              <a:lnSpc>
                <a:spcPct val="100000"/>
              </a:lnSpc>
              <a:buNone/>
            </a:pPr>
            <a:r>
              <a:rPr lang="en-US" sz="4500" b="1" spc="-198" kern="0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1261491" y="3019425"/>
            <a:ext cx="49446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3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ROI（投資対効果）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53200" y="1781175"/>
            <a:ext cx="5181600" cy="1809750"/>
          </a:xfrm>
          <a:prstGeom prst="roundRect">
            <a:avLst>
              <a:gd name="adj" fmla="val 8421"/>
            </a:avLst>
          </a:prstGeom>
          <a:solidFill>
            <a:srgbClr val="E6F4EA"/>
          </a:solidFill>
          <a:ln/>
        </p:spPr>
      </p:sp>
      <p:sp>
        <p:nvSpPr>
          <p:cNvPr id="10" name="Text 8"/>
          <p:cNvSpPr/>
          <p:nvPr/>
        </p:nvSpPr>
        <p:spPr>
          <a:xfrm>
            <a:off x="6671691" y="2047875"/>
            <a:ext cx="494461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b="1" spc="-198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pPr algn="ctr" indent="0" marL="0">
              <a:lnSpc>
                <a:spcPct val="100000"/>
              </a:lnSpc>
              <a:buNone/>
            </a:pPr>
            <a:r>
              <a:rPr lang="en-US" sz="3750" b="1" spc="-198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〜</a:t>
            </a:r>
            <a:pPr algn="ctr" indent="0" marL="0">
              <a:lnSpc>
                <a:spcPct val="100000"/>
              </a:lnSpc>
              <a:buNone/>
            </a:pPr>
            <a:r>
              <a:rPr lang="en-US" sz="6600" b="1" spc="-198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pPr algn="ctr" indent="0" marL="0">
              <a:lnSpc>
                <a:spcPct val="100000"/>
              </a:lnSpc>
              <a:buNone/>
            </a:pPr>
            <a:r>
              <a:rPr lang="en-US" sz="3300" b="1" spc="-198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ヶ月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6671691" y="3019425"/>
            <a:ext cx="49446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3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投資回収期間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963400" y="1781175"/>
            <a:ext cx="5181600" cy="1809750"/>
          </a:xfrm>
          <a:prstGeom prst="roundRect">
            <a:avLst>
              <a:gd name="adj" fmla="val 8421"/>
            </a:avLst>
          </a:prstGeom>
          <a:solidFill>
            <a:srgbClr val="E6F4EA"/>
          </a:solidFill>
          <a:ln/>
        </p:spPr>
      </p:sp>
      <p:sp>
        <p:nvSpPr>
          <p:cNvPr id="13" name="Text 11"/>
          <p:cNvSpPr/>
          <p:nvPr/>
        </p:nvSpPr>
        <p:spPr>
          <a:xfrm>
            <a:off x="12081891" y="2047875"/>
            <a:ext cx="49446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¥180</a:t>
            </a:r>
            <a:pPr algn="ctr" indent="0" marL="0">
              <a:lnSpc>
                <a:spcPct val="100000"/>
              </a:lnSpc>
              <a:buNone/>
            </a:pPr>
            <a:r>
              <a:rPr lang="en-US" sz="3000" b="1" spc="-162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〜</a:t>
            </a:r>
            <a:pPr algn="ctr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</a:t>
            </a:r>
            <a:pPr algn="ctr" indent="0" marL="0">
              <a:lnSpc>
                <a:spcPct val="100000"/>
              </a:lnSpc>
              <a:buNone/>
            </a:pPr>
            <a:r>
              <a:rPr lang="en-US" sz="3000" b="1" spc="-162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万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2081891" y="2867025"/>
            <a:ext cx="49446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33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月次削減効果（200名規模）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43000" y="3971925"/>
            <a:ext cx="7924800" cy="1372493"/>
          </a:xfrm>
          <a:prstGeom prst="roundRect">
            <a:avLst>
              <a:gd name="adj" fmla="val 11104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7883" y="4248150"/>
            <a:ext cx="751503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月額ライセンス費用（200名・Business）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47883" y="4649093"/>
            <a:ext cx="75150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¥630,000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220200" y="3971925"/>
            <a:ext cx="7924800" cy="1372493"/>
          </a:xfrm>
          <a:prstGeom prst="roundRect">
            <a:avLst>
              <a:gd name="adj" fmla="val 11104"/>
            </a:avLst>
          </a:prstGeom>
          <a:solidFill>
            <a:srgbClr val="E6F4EA"/>
          </a:solidFill>
          <a:ln w="9525">
            <a:solidFill>
              <a:srgbClr val="3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25083" y="4248150"/>
            <a:ext cx="751503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月次削減効果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25083" y="4649093"/>
            <a:ext cx="75150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¥1,800,000〜3,000,000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43000" y="5725418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グローバル事例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143000" y="6163568"/>
            <a:ext cx="3900488" cy="866775"/>
          </a:xfrm>
          <a:prstGeom prst="roundRect">
            <a:avLst>
              <a:gd name="adj" fmla="val 10989"/>
            </a:avLst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708" y="6315968"/>
            <a:ext cx="36250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KPMG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708" y="6630293"/>
            <a:ext cx="36250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70%以上削減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176838" y="6163568"/>
            <a:ext cx="3900488" cy="866775"/>
          </a:xfrm>
          <a:prstGeom prst="roundRect">
            <a:avLst>
              <a:gd name="adj" fmla="val 10989"/>
            </a:avLst>
          </a:prstGeom>
          <a:solidFill>
            <a:srgbClr val="F8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5314545" y="6315968"/>
            <a:ext cx="36250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Best Buy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14545" y="6630293"/>
            <a:ext cx="36250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90秒短縮／件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210675" y="6163568"/>
            <a:ext cx="3900488" cy="866775"/>
          </a:xfrm>
          <a:prstGeom prst="roundRect">
            <a:avLst>
              <a:gd name="adj" fmla="val 10989"/>
            </a:avLst>
          </a:pr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9348383" y="6315968"/>
            <a:ext cx="36250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メルカリ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48383" y="6630293"/>
            <a:ext cx="36250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 500%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3244513" y="6163568"/>
            <a:ext cx="3900488" cy="866775"/>
          </a:xfrm>
          <a:prstGeom prst="roundRect">
            <a:avLst>
              <a:gd name="adj" fmla="val 10989"/>
            </a:avLst>
          </a:prstGeom>
          <a:solidFill>
            <a:srgbClr val="F8F9FA"/>
          </a:solidFill>
          <a:ln/>
        </p:spPr>
      </p:sp>
      <p:sp>
        <p:nvSpPr>
          <p:cNvPr id="32" name="Text 30"/>
          <p:cNvSpPr/>
          <p:nvPr/>
        </p:nvSpPr>
        <p:spPr>
          <a:xfrm>
            <a:off x="13382220" y="6315968"/>
            <a:ext cx="36250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HCA Healthcare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382220" y="6630293"/>
            <a:ext cx="36250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数百万時間削減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158502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料金体系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763" y="1966912"/>
            <a:ext cx="4231779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7788" y="2128838"/>
            <a:ext cx="39586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エディション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379541" y="1966912"/>
            <a:ext cx="3236863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9566" y="2128838"/>
            <a:ext cx="2933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月額（年間）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16404" y="1966912"/>
            <a:ext cx="3236863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16429" y="2128838"/>
            <a:ext cx="2933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月額（月次）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853267" y="1966912"/>
            <a:ext cx="5286970" cy="619125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53292" y="2128838"/>
            <a:ext cx="50455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推奨対象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47763" y="2586038"/>
            <a:ext cx="4231779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7788" y="2728913"/>
            <a:ext cx="39586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Business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379541" y="2586038"/>
            <a:ext cx="3236863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1013" y="2728913"/>
            <a:ext cx="2933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$21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616404" y="2586038"/>
            <a:ext cx="3236863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7876" y="2728913"/>
            <a:ext cx="2933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$25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853267" y="2586038"/>
            <a:ext cx="528697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53292" y="2728913"/>
            <a:ext cx="50455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〜300名・エントリー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47763" y="3167063"/>
            <a:ext cx="15992475" cy="619125"/>
          </a:xfrm>
          <a:prstGeom prst="rect">
            <a:avLst/>
          </a:prstGeom>
          <a:solidFill>
            <a:srgbClr val="EBF3F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7763" y="3167063"/>
            <a:ext cx="4231779" cy="619125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3025" y="3305175"/>
            <a:ext cx="104938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Standard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2440037" y="3324225"/>
            <a:ext cx="666750" cy="323850"/>
          </a:xfrm>
          <a:prstGeom prst="roundRect">
            <a:avLst>
              <a:gd name="adj" fmla="val 50000"/>
            </a:avLst>
          </a:prstGeom>
          <a:solidFill>
            <a:srgbClr val="EBF3FE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4812" y="3371850"/>
            <a:ext cx="533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★推奨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79541" y="3167063"/>
            <a:ext cx="3236863" cy="619125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1013" y="3309938"/>
            <a:ext cx="2933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$30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8616404" y="3167063"/>
            <a:ext cx="3236863" cy="619125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67876" y="3309938"/>
            <a:ext cx="2933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$35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853267" y="3167063"/>
            <a:ext cx="5286970" cy="619125"/>
          </a:xfrm>
          <a:prstGeom prst="rect">
            <a:avLst/>
          </a:prstGeom>
          <a:solidFill>
            <a:srgbClr val="EBF3FE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53292" y="3309938"/>
            <a:ext cx="50455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全社展開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47763" y="3786188"/>
            <a:ext cx="4231779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47788" y="3929063"/>
            <a:ext cx="39586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Plus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379541" y="3786188"/>
            <a:ext cx="3236863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1013" y="3929063"/>
            <a:ext cx="2933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$50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8616404" y="3786188"/>
            <a:ext cx="3236863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67876" y="3929063"/>
            <a:ext cx="2933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$60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1853267" y="3786188"/>
            <a:ext cx="528697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53292" y="3929063"/>
            <a:ext cx="50455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開発者・パワーユーザー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43000" y="4905375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Google Workspace Business Standard以上（$14/user/month〜）が前提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43000" y="5781675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スモールスタート費用の目安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43000" y="6257925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E6F4EA"/>
          </a:solidFill>
          <a:ln/>
        </p:spPr>
      </p:sp>
      <p:sp>
        <p:nvSpPr>
          <p:cNvPr id="42" name="Text 40"/>
          <p:cNvSpPr/>
          <p:nvPr/>
        </p:nvSpPr>
        <p:spPr>
          <a:xfrm>
            <a:off x="1283922" y="6690420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E7E34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283922" y="7014270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Studio体験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3922" y="7387530"/>
            <a:ext cx="340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7E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¥0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4905375" y="6257925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248275" y="6257925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EBF3FE"/>
          </a:solidFill>
          <a:ln/>
        </p:spPr>
      </p:sp>
      <p:sp>
        <p:nvSpPr>
          <p:cNvPr id="47" name="Text 45"/>
          <p:cNvSpPr/>
          <p:nvPr/>
        </p:nvSpPr>
        <p:spPr>
          <a:xfrm>
            <a:off x="5389197" y="6685657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389197" y="7009507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10名POC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389197" y="7382768"/>
            <a:ext cx="34043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約¥31,500/月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010650" y="6257925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9353550" y="6257925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D2E3FC"/>
          </a:solidFill>
          <a:ln/>
        </p:spPr>
      </p:sp>
      <p:sp>
        <p:nvSpPr>
          <p:cNvPr id="52" name="Text 50"/>
          <p:cNvSpPr/>
          <p:nvPr/>
        </p:nvSpPr>
        <p:spPr>
          <a:xfrm>
            <a:off x="9494472" y="6685657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1A73E8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494472" y="7009507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30名展開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9494472" y="7382768"/>
            <a:ext cx="34043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約¥135,000/月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3115925" y="6257925"/>
            <a:ext cx="2667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3458825" y="6257925"/>
            <a:ext cx="3686175" cy="1885950"/>
          </a:xfrm>
          <a:prstGeom prst="roundRect">
            <a:avLst>
              <a:gd name="adj" fmla="val 5051"/>
            </a:avLst>
          </a:prstGeom>
          <a:solidFill>
            <a:srgbClr val="4285F4"/>
          </a:solidFill>
          <a:ln/>
        </p:spPr>
      </p:sp>
      <p:sp>
        <p:nvSpPr>
          <p:cNvPr id="57" name="Text 55"/>
          <p:cNvSpPr/>
          <p:nvPr/>
        </p:nvSpPr>
        <p:spPr>
          <a:xfrm>
            <a:off x="13599747" y="6685657"/>
            <a:ext cx="3404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135" kern="0" dirty="0">
                <a:solidFill>
                  <a:srgbClr val="FFF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3599747" y="7009507"/>
            <a:ext cx="340433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200名全社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3599747" y="7382768"/>
            <a:ext cx="34043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約¥900,000/月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662940" y="8296275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支援サービス費用は個別見積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1866900" y="952500"/>
            <a:ext cx="38847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当社の強み — Why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1962150"/>
            <a:ext cx="5181600" cy="354330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1971675"/>
            <a:ext cx="5162550" cy="66675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1381125" y="2143125"/>
            <a:ext cx="48602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00175" y="2847975"/>
            <a:ext cx="480726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Cloud パートナー認定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00175" y="3324225"/>
            <a:ext cx="480726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最新技術情報・優先サポートへの直接アクセス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53200" y="1962150"/>
            <a:ext cx="5181600" cy="354330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2725" y="1971675"/>
            <a:ext cx="5162550" cy="66675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6791325" y="2143125"/>
            <a:ext cx="48602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810375" y="2847975"/>
            <a:ext cx="480726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ワンストップ対応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10375" y="3324225"/>
            <a:ext cx="4807268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Workspace導入 → AI基盤構築 → エージェント開発 → 運用支援まで一気通貫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963400" y="1962150"/>
            <a:ext cx="5181600" cy="354330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972925" y="1971675"/>
            <a:ext cx="5162550" cy="66675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12201525" y="2143125"/>
            <a:ext cx="48602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220575" y="2847975"/>
            <a:ext cx="480726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エージェント開発力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220575" y="3324225"/>
            <a:ext cx="4807268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Agent Designer + API連携による業務特化エージェントの設計・開発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43000" y="5734050"/>
            <a:ext cx="5181600" cy="360045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9525">
            <a:solidFill>
              <a:srgbClr val="D2E3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2525" y="5743575"/>
            <a:ext cx="5162550" cy="66675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1381125" y="5915025"/>
            <a:ext cx="48602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00175" y="6619875"/>
            <a:ext cx="480726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中堅企業の導入知見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00175" y="7096125"/>
            <a:ext cx="4807268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100〜999名規模に最適化した導入手法・体制設計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553200" y="5734050"/>
            <a:ext cx="10591800" cy="3600450"/>
          </a:xfrm>
          <a:prstGeom prst="roundRect">
            <a:avLst>
              <a:gd name="adj" fmla="val 4233"/>
            </a:avLst>
          </a:prstGeom>
          <a:solidFill>
            <a:srgbClr val="EBF3FE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2725" y="5743575"/>
            <a:ext cx="10572750" cy="7239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Text 24"/>
          <p:cNvSpPr/>
          <p:nvPr/>
        </p:nvSpPr>
        <p:spPr>
          <a:xfrm>
            <a:off x="6791325" y="5915025"/>
            <a:ext cx="1043273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★ 最大の強み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810375" y="6677025"/>
            <a:ext cx="103797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伴走型支援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810375" y="7153275"/>
            <a:ext cx="10379774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導入して終わりではなく、定着化・効果測定・改善サイクルまで継続支援。お客様の成果を最大化するまで、同じチームで走り続けます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1162050"/>
            <a:ext cx="457200" cy="57150"/>
          </a:xfrm>
          <a:prstGeom prst="roundRect">
            <a:avLst>
              <a:gd name="adj" fmla="val 33333"/>
            </a:avLst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2057400" y="952500"/>
            <a:ext cx="727988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30" kern="0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Steps — まずは30分の無料相談から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33500" y="2152650"/>
            <a:ext cx="4698950" cy="4781550"/>
          </a:xfrm>
          <a:prstGeom prst="roundRect">
            <a:avLst>
              <a:gd name="adj" fmla="val 3243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7350" y="2514600"/>
            <a:ext cx="41727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57350" y="2895600"/>
            <a:ext cx="41727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無料相談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7350" y="3486150"/>
            <a:ext cx="4172788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現状ヒアリング （30分・オンライン）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57350" y="5762625"/>
            <a:ext cx="417278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657350" y="6324600"/>
            <a:ext cx="41727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リスクゼロ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22950" y="2152650"/>
            <a:ext cx="457200" cy="481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794450" y="2152650"/>
            <a:ext cx="4699099" cy="4781550"/>
          </a:xfrm>
          <a:prstGeom prst="roundRect">
            <a:avLst>
              <a:gd name="adj" fmla="val 3243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8300" y="2514600"/>
            <a:ext cx="41729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8300" y="2895600"/>
            <a:ext cx="417294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Workspace Studio デモ体験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18300" y="3924300"/>
            <a:ext cx="417294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無償・翌日開始可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118300" y="5762625"/>
            <a:ext cx="4172941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¥0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118300" y="6324600"/>
            <a:ext cx="41729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7E3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追加費用なし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684050" y="2152650"/>
            <a:ext cx="457200" cy="481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285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2255550" y="2152650"/>
            <a:ext cx="4698950" cy="4781550"/>
          </a:xfrm>
          <a:prstGeom prst="roundRect">
            <a:avLst>
              <a:gd name="adj" fmla="val 3243"/>
            </a:avLst>
          </a:prstGeom>
          <a:solidFill>
            <a:srgbClr val="EBF3FE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79400" y="2514600"/>
            <a:ext cx="41727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579400" y="2895600"/>
            <a:ext cx="41727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POCプラン策定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579400" y="3486150"/>
            <a:ext cx="417278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10名パイロット提案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579400" y="5886450"/>
            <a:ext cx="41727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個別見積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579400" y="6324600"/>
            <a:ext cx="41727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7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効果実証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333500" y="7467600"/>
            <a:ext cx="15621000" cy="1104900"/>
          </a:xfrm>
          <a:prstGeom prst="roundRect">
            <a:avLst>
              <a:gd name="adj" fmla="val 12069"/>
            </a:avLst>
          </a:prstGeom>
          <a:solidFill>
            <a:srgbClr val="4285F4"/>
          </a:solidFill>
          <a:ln/>
        </p:spPr>
      </p:sp>
      <p:sp>
        <p:nvSpPr>
          <p:cNvPr id="25" name="Text 23"/>
          <p:cNvSpPr/>
          <p:nvPr/>
        </p:nvSpPr>
        <p:spPr>
          <a:xfrm>
            <a:off x="1714500" y="7853362"/>
            <a:ext cx="18365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お問い合わせ先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46339" y="7753350"/>
            <a:ext cx="9144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8" kern="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46339" y="7981950"/>
            <a:ext cx="914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●●●●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456039" y="7753350"/>
            <a:ext cx="23230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8" kern="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EMAIL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56039" y="7981950"/>
            <a:ext cx="23230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●●●●@●●●.co.jp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274397" y="7753350"/>
            <a:ext cx="21550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8" kern="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74397" y="7981950"/>
            <a:ext cx="21550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03-●●●●-●●●●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99185" y="9105900"/>
            <a:ext cx="160896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機密：本資料はお客様限りの資料です。第三者への開示・転載はご遠慮ください。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414230" y="9563100"/>
            <a:ext cx="340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5F636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2026-04-24T03:53:06Z</dcterms:created>
  <dcterms:modified xsi:type="dcterms:W3CDTF">2026-04-24T03:53:06Z</dcterms:modified>
</cp:coreProperties>
</file>